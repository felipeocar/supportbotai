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51dc564ece441e" /><Relationship Type="http://schemas.openxmlformats.org/officeDocument/2006/relationships/extended-properties" Target="/docProps/app.xml" Id="R1fa88127e34a442f" /><Relationship Type="http://schemas.openxmlformats.org/officeDocument/2006/relationships/officeDocument" Target="/ppt/presentation.xml" Id="R9d3357e2b5804ffb" /></Relationships>
</file>

<file path=ppt/presentation.xml><?xml version="1.0" encoding="utf-8"?>
<p:presentation xmlns:p="http://schemas.openxmlformats.org/presentationml/2006/main">
  <p:sldMasterIdLst>
    <p:sldMasterId xmlns:r="http://schemas.openxmlformats.org/officeDocument/2006/relationships" id="2147483648" r:id="Rcfb12e3f1ae3466c"/>
  </p:sldMasterIdLst>
  <p:notesMasterIdLst>
    <p:notesMasterId xmlns:r="http://schemas.openxmlformats.org/officeDocument/2006/relationships" r:id="R2f0d3e8b40c74a4b"/>
  </p:notesMasterIdLst>
  <p:sldIdLst>
    <p:sldId xmlns:r="http://schemas.openxmlformats.org/officeDocument/2006/relationships" id="256" r:id="R84ce067740e84614"/>
    <p:sldId xmlns:r="http://schemas.openxmlformats.org/officeDocument/2006/relationships" id="257" r:id="R7faeeb1b440e457b"/>
    <p:sldId xmlns:r="http://schemas.openxmlformats.org/officeDocument/2006/relationships" id="258" r:id="R93691e0e1f4d4c29"/>
    <p:sldId xmlns:r="http://schemas.openxmlformats.org/officeDocument/2006/relationships" id="259" r:id="Rb4e48272a122411f"/>
    <p:sldId xmlns:r="http://schemas.openxmlformats.org/officeDocument/2006/relationships" id="260" r:id="R11d45c0defd24f62"/>
    <p:sldId xmlns:r="http://schemas.openxmlformats.org/officeDocument/2006/relationships" id="261" r:id="R93ad5d3055c542b4"/>
    <p:sldId xmlns:r="http://schemas.openxmlformats.org/officeDocument/2006/relationships" id="262" r:id="Raf12e540ca4542a5"/>
    <p:sldId xmlns:r="http://schemas.openxmlformats.org/officeDocument/2006/relationships" id="263" r:id="Re7dd8020839e442e"/>
    <p:sldId xmlns:r="http://schemas.openxmlformats.org/officeDocument/2006/relationships" id="264" r:id="Re7904a33f606411a"/>
    <p:sldId xmlns:r="http://schemas.openxmlformats.org/officeDocument/2006/relationships" id="265" r:id="Ra89648ddccff4d72"/>
    <p:sldId xmlns:r="http://schemas.openxmlformats.org/officeDocument/2006/relationships" id="266" r:id="R3be10ffd6d9c4a29"/>
    <p:sldId xmlns:r="http://schemas.openxmlformats.org/officeDocument/2006/relationships" id="267" r:id="R4c8fb23596bd418e"/>
    <p:sldId xmlns:r="http://schemas.openxmlformats.org/officeDocument/2006/relationships" id="268" r:id="Rdfaa48b031c44d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b15bc9c71c46cc" /><Relationship Type="http://schemas.openxmlformats.org/officeDocument/2006/relationships/slideMaster" Target="/ppt/slideMasters/slideMaster1.xml" Id="Rcfb12e3f1ae3466c" /><Relationship Type="http://schemas.openxmlformats.org/officeDocument/2006/relationships/notesMaster" Target="/ppt/notesMasters/notesMaster1.xml" Id="R2f0d3e8b40c74a4b" /><Relationship Type="http://schemas.openxmlformats.org/officeDocument/2006/relationships/presProps" Target="/ppt/presProps.xml" Id="R445736bef8444b77" /><Relationship Type="http://schemas.openxmlformats.org/officeDocument/2006/relationships/tableStyles" Target="/ppt/tableStyles.xml" Id="R156ab90ccc5d40f8" /><Relationship Type="http://schemas.openxmlformats.org/officeDocument/2006/relationships/slide" Target="/ppt/slides/slide1.xml" Id="R84ce067740e84614" /><Relationship Type="http://schemas.openxmlformats.org/officeDocument/2006/relationships/slide" Target="/ppt/slides/slide2.xml" Id="R7faeeb1b440e457b" /><Relationship Type="http://schemas.openxmlformats.org/officeDocument/2006/relationships/slide" Target="/ppt/slides/slide3.xml" Id="R93691e0e1f4d4c29" /><Relationship Type="http://schemas.openxmlformats.org/officeDocument/2006/relationships/slide" Target="/ppt/slides/slide4.xml" Id="Rb4e48272a122411f" /><Relationship Type="http://schemas.openxmlformats.org/officeDocument/2006/relationships/slide" Target="/ppt/slides/slide5.xml" Id="R11d45c0defd24f62" /><Relationship Type="http://schemas.openxmlformats.org/officeDocument/2006/relationships/slide" Target="/ppt/slides/slide6.xml" Id="R93ad5d3055c542b4" /><Relationship Type="http://schemas.openxmlformats.org/officeDocument/2006/relationships/slide" Target="/ppt/slides/slide7.xml" Id="Raf12e540ca4542a5" /><Relationship Type="http://schemas.openxmlformats.org/officeDocument/2006/relationships/slide" Target="/ppt/slides/slide8.xml" Id="Re7dd8020839e442e" /><Relationship Type="http://schemas.openxmlformats.org/officeDocument/2006/relationships/slide" Target="/ppt/slides/slide9.xml" Id="Re7904a33f606411a" /><Relationship Type="http://schemas.openxmlformats.org/officeDocument/2006/relationships/slide" Target="/ppt/slides/slide10.xml" Id="Ra89648ddccff4d72" /><Relationship Type="http://schemas.openxmlformats.org/officeDocument/2006/relationships/slide" Target="/ppt/slides/slide11.xml" Id="R3be10ffd6d9c4a29" /><Relationship Type="http://schemas.openxmlformats.org/officeDocument/2006/relationships/slide" Target="/ppt/slides/slide12.xml" Id="R4c8fb23596bd418e" /><Relationship Type="http://schemas.openxmlformats.org/officeDocument/2006/relationships/slide" Target="/ppt/slides/slide13.xml" Id="Rdfaa48b031c44d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4fcfaed86448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1a24953b1b40e4" /><Relationship Type="http://schemas.openxmlformats.org/officeDocument/2006/relationships/notesMaster" Target="/ppt/notesMasters/notesMaster1.xml" Id="Rc565fb61212c4a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c6c56518e54e78" /><Relationship Type="http://schemas.openxmlformats.org/officeDocument/2006/relationships/notesMaster" Target="/ppt/notesMasters/notesMaster1.xml" Id="R8861165106a643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0493cdc7e842ce" /><Relationship Type="http://schemas.openxmlformats.org/officeDocument/2006/relationships/notesMaster" Target="/ppt/notesMasters/notesMaster1.xml" Id="Rc9626be6b9a546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0ad9c242024cb6" /><Relationship Type="http://schemas.openxmlformats.org/officeDocument/2006/relationships/notesMaster" Target="/ppt/notesMasters/notesMaster1.xml" Id="R07a31b17494a41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9f50b9dd1a4d9b" /><Relationship Type="http://schemas.openxmlformats.org/officeDocument/2006/relationships/notesMaster" Target="/ppt/notesMasters/notesMaster1.xml" Id="R6506d4a7504042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efc5995db641ae" /><Relationship Type="http://schemas.openxmlformats.org/officeDocument/2006/relationships/notesMaster" Target="/ppt/notesMasters/notesMaster1.xml" Id="R348266d592d446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8d43ae44dc4100" /><Relationship Type="http://schemas.openxmlformats.org/officeDocument/2006/relationships/notesMaster" Target="/ppt/notesMasters/notesMaster1.xml" Id="Re9cf6bd4734c49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2a4c58281549ee" /><Relationship Type="http://schemas.openxmlformats.org/officeDocument/2006/relationships/notesMaster" Target="/ppt/notesMasters/notesMaster1.xml" Id="R1c87c25e676c49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503be472fe4675" /><Relationship Type="http://schemas.openxmlformats.org/officeDocument/2006/relationships/notesMaster" Target="/ppt/notesMasters/notesMaster1.xml" Id="Rbb26a6b92a3a4b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8f067238924680" /><Relationship Type="http://schemas.openxmlformats.org/officeDocument/2006/relationships/notesMaster" Target="/ppt/notesMasters/notesMaster1.xml" Id="R00893d507e504e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e7effefed3456b" /><Relationship Type="http://schemas.openxmlformats.org/officeDocument/2006/relationships/notesMaster" Target="/ppt/notesMasters/notesMaster1.xml" Id="Rad1e9a3a557944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bcd3d335d448d2" /><Relationship Type="http://schemas.openxmlformats.org/officeDocument/2006/relationships/notesMaster" Target="/ppt/notesMasters/notesMaster1.xml" Id="R94c73c975b3348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c5c2a049a24010" /><Relationship Type="http://schemas.openxmlformats.org/officeDocument/2006/relationships/notesMaster" Target="/ppt/notesMasters/notesMaster1.xml" Id="R1b0fdbf7e34d4e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Einstieg: Das Projekt löst nicht nur eine Chat-Aufgabe. Die eigentliche Herausforderung ist kontrollierbare KI: transparent, fehlertolerant und jederzeit an einen Menschen übergebbar.</a:t>
            </a:r>
          </a:p>
          <a:p xmlns:a="http://schemas.openxmlformats.org/drawingml/2006/main">
            <a:r>
              <a:t/>
            </a:r>
          </a:p>
          <a:p xmlns:a="http://schemas.openxmlformats.org/drawingml/2006/main">
            <a:r>
              <a:t>[Sources]</a:t>
            </a:r>
          </a:p>
          <a:p xmlns:a="http://schemas.openxmlformats.org/drawingml/2006/main">
            <a:r>
              <a:t>- Google Gemini models: https://ai.google.dev/gemini-api/docs/models</a:t>
            </a:r>
          </a:p>
          <a:p xmlns:a="http://schemas.openxmlformats.org/drawingml/2006/main">
            <a:r>
              <a:t>- ASP.NET Core Blazor: https://learn.microsoft.com/aspnet/core/blazor/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 die fiktive TechShop-Situation und zeige, dass die sechs Screens als ein zusammenhängender Ablauf geplant wurden. Die Übersicht ist Ausgangspunkt, nicht bloss Dekoration.</a:t>
            </a:r>
          </a:p>
          <a:p xmlns:a="http://schemas.openxmlformats.org/drawingml/2006/main">
            <a:r>
              <a:t/>
            </a:r>
          </a:p>
          <a:p xmlns:a="http://schemas.openxmlformats.org/drawingml/2006/main">
            <a:r>
              <a:t>[Sources]</a:t>
            </a:r>
          </a:p>
          <a:p xmlns:a="http://schemas.openxmlformats.org/drawingml/2006/main">
            <a:r>
              <a:t>- Eigenes Projektartefakt: docs/mockups/SupportBotAI_Mockups.bmpr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Betone, dass keine Durchschnittspersona verwendet wurde. Jede Persona führt zu messbaren Anforderungen und später zu Testfällen.</a:t>
            </a:r>
          </a:p>
          <a:p xmlns:a="http://schemas.openxmlformats.org/drawingml/2006/main">
            <a:r>
              <a:t/>
            </a:r>
          </a:p>
          <a:p xmlns:a="http://schemas.openxmlformats.org/drawingml/2006/main">
            <a:r>
              <a:t>[Sources]</a:t>
            </a:r>
          </a:p>
          <a:p xmlns:a="http://schemas.openxmlformats.org/drawingml/2006/main">
            <a:r>
              <a:t>- Nutzungsanalyse im Projekt: docs/01_Nutzungsanalyse.md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Stelle die Kernthese vor: Ein freundlicher Avatar wäre kein Vertrauensbeweis. Vorhersagbare Zustände, ehrliche Grenzen und Handlungsfreiheit sind entscheidend. Verknüpfe dies mit Aufgabenangemessenheit, Selbstbeschreibungsfähigkeit, Steuerbarkeit, Erwartungskonformität, Fehlertoleranz, Individualisierbarkeit und Lernförderlichkeit.</a:t>
            </a:r>
          </a:p>
          <a:p xmlns:a="http://schemas.openxmlformats.org/drawingml/2006/main">
            <a:r>
              <a:t/>
            </a:r>
          </a:p>
          <a:p xmlns:a="http://schemas.openxmlformats.org/drawingml/2006/main">
            <a:r>
              <a:t>[Sources]</a:t>
            </a:r>
          </a:p>
          <a:p xmlns:a="http://schemas.openxmlformats.org/drawingml/2006/main">
            <a:r>
              <a:t>- ISO 9241-110 overview: https://www.iso.org/standard/75258.html</a:t>
            </a:r>
          </a:p>
          <a:p xmlns:a="http://schemas.openxmlformats.org/drawingml/2006/main">
            <a:r>
              <a:t>- Aufgabenmaterial des Moduls zu ergonomischer Dialoggestaltung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Vergleiche beide Varianten anhand von Orientierung, Transparenz und Kontrolle. Erkläre den Nachteil von B auf kleinen Bildschirmen und die Lösung: Die Seitenspalten werden responsiv ausgeblendet.</a:t>
            </a:r>
          </a:p>
          <a:p xmlns:a="http://schemas.openxmlformats.org/drawingml/2006/main">
            <a:r>
              <a:t/>
            </a:r>
          </a:p>
          <a:p xmlns:a="http://schemas.openxmlformats.org/drawingml/2006/main">
            <a:r>
              <a:t>[Sources]</a:t>
            </a:r>
          </a:p>
          <a:p xmlns:a="http://schemas.openxmlformats.org/drawingml/2006/main">
            <a:r>
              <a:t>- Eigene Wireframes: docs/mockups/SupportBotAI_Mockups.bmpr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Zeige zuerst den Screen-Flow, dann den Zustands-Flow. Entscheidend: Fehler ist kein Endpunkt. Nutzerfrage, Retry und Eskalationsweg bleiben erhalten.</a:t>
            </a:r>
          </a:p>
          <a:p xmlns:a="http://schemas.openxmlformats.org/drawingml/2006/main">
            <a:r>
              <a:t/>
            </a:r>
          </a:p>
          <a:p xmlns:a="http://schemas.openxmlformats.org/drawingml/2006/main">
            <a:r>
              <a:t>[Sources]</a:t>
            </a:r>
          </a:p>
          <a:p xmlns:a="http://schemas.openxmlformats.org/drawingml/2006/main">
            <a:r>
              <a:t>- Eigene Wireframes: docs/mockups/SupportBotAI_Mockups.bmpr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Demo-Reihenfolge genau so durchführen. Testbestellung TS-10482 liefert eine bekannte Antwort; TS-99999 demonstriert die Grenze. Danach den einmaligen Demo-Timeout aktivieren, Retry zeigen und kurz die Accessibility-Einstellungen öffnen. Plane für die Live-Demo etwa fünf Minuten ein.</a:t>
            </a:r>
          </a:p>
          <a:p xmlns:a="http://schemas.openxmlformats.org/drawingml/2006/main">
            <a:r>
              <a:t/>
            </a:r>
          </a:p>
          <a:p xmlns:a="http://schemas.openxmlformats.org/drawingml/2006/main">
            <a:r>
              <a:t>[Sources]</a:t>
            </a:r>
          </a:p>
          <a:p xmlns:a="http://schemas.openxmlformats.org/drawingml/2006/main">
            <a:r>
              <a:t>- Eigene Demo-Daten und UI im Projekt SupportBotAI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 die Trennung: UI rendert und interagiert; Services kapseln KI und Persistenz; Modelle tragen Zustand; JavaScript übernimmt Browserfunktionen. JSON ist für die Prüfungsdemo ausreichend, leicht prüfbar und kostenlos.</a:t>
            </a:r>
          </a:p>
          <a:p xmlns:a="http://schemas.openxmlformats.org/drawingml/2006/main">
            <a:r>
              <a:t/>
            </a:r>
          </a:p>
          <a:p xmlns:a="http://schemas.openxmlformats.org/drawingml/2006/main">
            <a:r>
              <a:t>[Sources]</a:t>
            </a:r>
          </a:p>
          <a:p xmlns:a="http://schemas.openxmlformats.org/drawingml/2006/main">
            <a:r>
              <a:t>- Google Gen AI .NET SDK: https://googleapis.github.io/dotnet-genai/</a:t>
            </a:r>
          </a:p>
          <a:p xmlns:a="http://schemas.openxmlformats.org/drawingml/2006/main">
            <a:r>
              <a:t>- NuGet Google.GenAI: https://www.nuget.org/packages/Google.GenAI</a:t>
            </a:r>
          </a:p>
          <a:p xmlns:a="http://schemas.openxmlformats.org/drawingml/2006/main">
            <a:r>
              <a:t>- ASP.NET Core Blazor: https://learn.microsoft.com/aspnet/core/blazor/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ist die wichtigste technische Folie. Erkläre die Reihenfolge und warum die Persistenz vor dem API-Aufruf erfolgt. Zeige im Code IAsyncEnumerable, WaitAsync mit Timeout-Token und den finally-Block. Die Invariante verhindert festhängende UI-Zustände.</a:t>
            </a:r>
          </a:p>
          <a:p xmlns:a="http://schemas.openxmlformats.org/drawingml/2006/main">
            <a:r>
              <a:t/>
            </a:r>
          </a:p>
          <a:p xmlns:a="http://schemas.openxmlformats.org/drawingml/2006/main">
            <a:r>
              <a:t>[Sources]</a:t>
            </a:r>
          </a:p>
          <a:p xmlns:a="http://schemas.openxmlformats.org/drawingml/2006/main">
            <a:r>
              <a:t>- Google Gen AI .NET SDK streaming: https://googleapis.github.io/dotnet-genai/</a:t>
            </a:r>
          </a:p>
          <a:p xmlns:a="http://schemas.openxmlformats.org/drawingml/2006/main">
            <a:r>
              <a:t>- Projektbericht: docs/03_Technikbericht.md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Zeige die kontrollierte Fehlerdemo und anschliessend das Eskalationsformular. Mache klar, dass die KI bei unbekannten Bestellungen nicht raten soll. Das Formular validiert Kontakt, Thema, Beschreibung und Datenschutzbestätigung.</a:t>
            </a:r>
          </a:p>
          <a:p xmlns:a="http://schemas.openxmlformats.org/drawingml/2006/main">
            <a:r>
              <a:t/>
            </a:r>
          </a:p>
          <a:p xmlns:a="http://schemas.openxmlformats.org/drawingml/2006/main">
            <a:r>
              <a:t>[Sources]</a:t>
            </a:r>
          </a:p>
          <a:p xmlns:a="http://schemas.openxmlformats.org/drawingml/2006/main">
            <a:r>
              <a:t>- Eigene Wireframes: docs/mockups/SupportBotAI_Mockups.bmpr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 dass die App nicht nur visuell angepasst wird. Dynamische Chatnachrichten werden angekündigt; Fokus bleibt sichtbar; Bedienelemente sind nativ; Spracheingabe wird in Chrome demonstriert. Der Quellcode ist vorbereitet, der laufende Lighthouse-/axe-Nachweis muss morgen ergänzt werden.</a:t>
            </a:r>
          </a:p>
          <a:p xmlns:a="http://schemas.openxmlformats.org/drawingml/2006/main">
            <a:r>
              <a:t/>
            </a:r>
          </a:p>
          <a:p xmlns:a="http://schemas.openxmlformats.org/drawingml/2006/main">
            <a:r>
              <a:t>[Sources]</a:t>
            </a:r>
          </a:p>
          <a:p xmlns:a="http://schemas.openxmlformats.org/drawingml/2006/main">
            <a:r>
              <a:t>- WCAG 2.1: https://www.w3.org/TR/WCAG21/</a:t>
            </a:r>
          </a:p>
          <a:p xmlns:a="http://schemas.openxmlformats.org/drawingml/2006/main">
            <a:r>
              <a:t>- Web Speech API: https://developer.mozilla.org/docs/Web/API/Web_Speech_API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vor der endgültigen Präsentation aktualisieren. Zwei echte Personen testen lassen, Testbögen ausfüllen, SUS berechnen und drei beobachtete Probleme wirklich im Code verbessern. Danach die sichtbaren Platzhalter in Dokumentation und Folie ersetzen.</a:t>
            </a:r>
          </a:p>
          <a:p xmlns:a="http://schemas.openxmlformats.org/drawingml/2006/main">
            <a:r>
              <a:t/>
            </a:r>
          </a:p>
          <a:p xmlns:a="http://schemas.openxmlformats.org/drawingml/2006/main">
            <a:r>
              <a:t>[Sources]</a:t>
            </a:r>
          </a:p>
          <a:p xmlns:a="http://schemas.openxmlformats.org/drawingml/2006/main">
            <a:r>
              <a:t>- System Usability Scale: https://www.usability.gov/how-to-and-tools/methods/system-usability-scale.html</a:t>
            </a:r>
          </a:p>
          <a:p xmlns:a="http://schemas.openxmlformats.org/drawingml/2006/main">
            <a:r>
              <a:t>- Testvorlagen im Projekt: docs/testing/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Fazit: Die eigentliche Designleistung liegt im Umgang mit Unsicherheit. Schliesse mit den drei Lessons Learned und öffne danach für Fragen. Falls Zeit bleibt, zeige den Git-Verlauf oder den technischen Bericht zur Streaming-Komponente.</a:t>
            </a:r>
          </a:p>
          <a:p xmlns:a="http://schemas.openxmlformats.org/drawingml/2006/main">
            <a:r>
              <a:t/>
            </a:r>
          </a:p>
          <a:p xmlns:a="http://schemas.openxmlformats.org/drawingml/2006/main">
            <a:r>
              <a:t>[Sources]</a:t>
            </a:r>
          </a:p>
          <a:p xmlns:a="http://schemas.openxmlformats.org/drawingml/2006/main">
            <a:r>
              <a:t>- Eigene Reflexion: SupportBotAI_Dokumentation_Entwurf.docx, Kapitel 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cbefb2af794a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1cd3d770234c64" /><Relationship Type="http://schemas.openxmlformats.org/officeDocument/2006/relationships/slideLayout" Target="/ppt/slideLayouts/slideLayout1.xml" Id="Rd3704a584d3f47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704a584d3f47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5a48139f44497a" /><Relationship Type="http://schemas.openxmlformats.org/officeDocument/2006/relationships/notesSlide" Target="/ppt/notesSlides/notesSlide1.xml" Id="Rd3f3c77743bb4c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8279c17b564c2f" /><Relationship Type="http://schemas.openxmlformats.org/officeDocument/2006/relationships/image" Target="/ppt/media/image.png" Id="R1d3cf09623ac4bf3" /><Relationship Type="http://schemas.openxmlformats.org/officeDocument/2006/relationships/notesSlide" Target="/ppt/notesSlides/notesSlide2.xml" Id="R9cbd7fb054534c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d1dc6cf5834708" /><Relationship Type="http://schemas.openxmlformats.org/officeDocument/2006/relationships/notesSlide" Target="/ppt/notesSlides/notesSlide3.xml" Id="Ra9c9f08cc99e48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aca6786c3f4179" /><Relationship Type="http://schemas.openxmlformats.org/officeDocument/2006/relationships/notesSlide" Target="/ppt/notesSlides/notesSlide4.xml" Id="Rf570a6fbf49e47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26a37cf57c4faa" /><Relationship Type="http://schemas.openxmlformats.org/officeDocument/2006/relationships/image" Target="/ppt/media/image2.png" Id="Rebf32324c70440b2" /><Relationship Type="http://schemas.openxmlformats.org/officeDocument/2006/relationships/image" Target="/ppt/media/image3.png" Id="R0e2ba86291744e8c" /><Relationship Type="http://schemas.openxmlformats.org/officeDocument/2006/relationships/notesSlide" Target="/ppt/notesSlides/notesSlide5.xml" Id="Rd4bc387d5bb641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1b2b09b60b42af" /><Relationship Type="http://schemas.openxmlformats.org/officeDocument/2006/relationships/image" Target="/ppt/media/image4.png" Id="R662d876a617d4014" /><Relationship Type="http://schemas.openxmlformats.org/officeDocument/2006/relationships/image" Target="/ppt/media/image5.png" Id="R3bf60eb986ff48d9" /><Relationship Type="http://schemas.openxmlformats.org/officeDocument/2006/relationships/notesSlide" Target="/ppt/notesSlides/notesSlide6.xml" Id="Ra5abaa6d63cb4f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1efa2838404484" /><Relationship Type="http://schemas.openxmlformats.org/officeDocument/2006/relationships/image" Target="/ppt/media/image6.png" Id="R0b9ad16847f549af" /><Relationship Type="http://schemas.openxmlformats.org/officeDocument/2006/relationships/notesSlide" Target="/ppt/notesSlides/notesSlide7.xml" Id="R8796aae044f34d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13227d32664010" /><Relationship Type="http://schemas.openxmlformats.org/officeDocument/2006/relationships/notesSlide" Target="/ppt/notesSlides/notesSlide8.xml" Id="Rf2518edda5fb49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5fab945e3b4424" /><Relationship Type="http://schemas.openxmlformats.org/officeDocument/2006/relationships/image" Target="/ppt/media/image7.png" Id="Rbff91757bded4cc7" /><Relationship Type="http://schemas.openxmlformats.org/officeDocument/2006/relationships/notesSlide" Target="/ppt/notesSlides/notesSlide9.xml" Id="R583ed96658d44f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11cbee37924f87" /><Relationship Type="http://schemas.openxmlformats.org/officeDocument/2006/relationships/image" Target="/ppt/media/image8.png" Id="R1f50e6d89c4442e2" /><Relationship Type="http://schemas.openxmlformats.org/officeDocument/2006/relationships/image" Target="/ppt/media/image9.png" Id="R8d813d95ddc248ee" /><Relationship Type="http://schemas.openxmlformats.org/officeDocument/2006/relationships/notesSlide" Target="/ppt/notesSlides/notesSlide10.xml" Id="Rf7731242c75149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8a3eba7905d43ba" /><Relationship Type="http://schemas.openxmlformats.org/officeDocument/2006/relationships/image" Target="/ppt/media/image10.png" Id="R53c6b9276c6c4963" /><Relationship Type="http://schemas.openxmlformats.org/officeDocument/2006/relationships/image" Target="/ppt/media/image11.png" Id="Rbbc7c32c114149ea" /><Relationship Type="http://schemas.openxmlformats.org/officeDocument/2006/relationships/notesSlide" Target="/ppt/notesSlides/notesSlide11.xml" Id="R72a38f487f6c4b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78eb0306e4421f" /><Relationship Type="http://schemas.openxmlformats.org/officeDocument/2006/relationships/notesSlide" Target="/ppt/notesSlides/notesSlide12.xml" Id="R34460bf426ab45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7e8e8221d5d4408" /><Relationship Type="http://schemas.openxmlformats.org/officeDocument/2006/relationships/notesSlide" Target="/ppt/notesSlides/notesSlide13.xml" Id="R305b1be98ac641ae" /></Relationships>
</file>

<file path=ppt/slides/slide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D159A3-C4A0-4B52-A1EE-225A7C60794D}"/>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3DEE55-A840-4130-A838-BADCB3738C2A}"/>
              </a:ext>
            </a:extLst>
          </p:cNvPr>
          <p:cNvSpPr>
            <a:spLocks xmlns:a="http://schemas.openxmlformats.org/drawingml/2006/main" noGrp="1"/>
          </p:cNvSpPr>
          <p:nvPr/>
        </p:nvSpPr>
        <p:spPr>
          <a:xfrm xmlns:a="http://schemas.openxmlformats.org/drawingml/2006/main">
            <a:off x="628650" y="552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867B"/>
                </a:solidFill>
                <a:latin typeface="Helvetica Neue"/>
                <a:ea typeface="Helvetica Neue"/>
                <a:cs typeface="Helvetica Neue"/>
              </a:defRPr>
            </a:pPr>
            <a:r>
              <a:rPr sz="1425" b="1" i="0">
                <a:solidFill>
                  <a:srgbClr val="11867B"/>
                </a:solidFill>
                <a:latin typeface="Helvetica Neue"/>
                <a:ea typeface="Helvetica Neue"/>
                <a:cs typeface="Helvetica Neue"/>
              </a:rPr>
              <a:t>MODUL 322 · EINZELPROJEKT</a:t>
            </a:r>
          </a:p>
        </p:txBody>
      </p:sp>
      <p:sp>
        <p:nvSpPr>
          <p:cNvPr id="3" name="">
            <a:extLst xmlns:a="http://schemas.openxmlformats.org/drawingml/2006/main">
              <a:ext uri="{FF2B5EF4-FFF2-40B4-BE49-F238E27FC236}">
                <a16:creationId xmlns:a16="http://schemas.microsoft.com/office/drawing/2014/main" id="{124D5C9C-C628-4FD9-95CE-6CDFC9AF2174}"/>
              </a:ext>
            </a:extLst>
          </p:cNvPr>
          <p:cNvSpPr>
            <a:spLocks xmlns:a="http://schemas.openxmlformats.org/drawingml/2006/main" noGrp="1"/>
          </p:cNvSpPr>
          <p:nvPr/>
        </p:nvSpPr>
        <p:spPr>
          <a:xfrm xmlns:a="http://schemas.openxmlformats.org/drawingml/2006/main">
            <a:off x="628650" y="1790700"/>
            <a:ext cx="9429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550" b="1" i="0">
                <a:solidFill>
                  <a:srgbClr val="0B2A42"/>
                </a:solidFill>
                <a:latin typeface="Helvetica Neue"/>
                <a:ea typeface="Helvetica Neue"/>
                <a:cs typeface="Helvetica Neue"/>
              </a:defRPr>
            </a:pPr>
            <a:r>
              <a:rPr sz="5550" b="1" i="0">
                <a:solidFill>
                  <a:srgbClr val="0B2A42"/>
                </a:solidFill>
                <a:latin typeface="Helvetica Neue"/>
                <a:ea typeface="Helvetica Neue"/>
                <a:cs typeface="Helvetica Neue"/>
              </a:rPr>
              <a:t>SupportBot AI</a:t>
            </a:r>
          </a:p>
        </p:txBody>
      </p:sp>
      <p:sp>
        <p:nvSpPr>
          <p:cNvPr id="4" name="">
            <a:extLst xmlns:a="http://schemas.openxmlformats.org/drawingml/2006/main">
              <a:ext uri="{FF2B5EF4-FFF2-40B4-BE49-F238E27FC236}">
                <a16:creationId xmlns:a16="http://schemas.microsoft.com/office/drawing/2014/main" id="{DD5FBB13-DC1B-41FA-B597-AE70FA65C55F}"/>
              </a:ext>
            </a:extLst>
          </p:cNvPr>
          <p:cNvSpPr>
            <a:spLocks xmlns:a="http://schemas.openxmlformats.org/drawingml/2006/main" noGrp="1"/>
          </p:cNvSpPr>
          <p:nvPr/>
        </p:nvSpPr>
        <p:spPr>
          <a:xfrm xmlns:a="http://schemas.openxmlformats.org/drawingml/2006/main">
            <a:off x="628650" y="3171825"/>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0" i="0">
                <a:solidFill>
                  <a:srgbClr val="2D75B8"/>
                </a:solidFill>
                <a:latin typeface="Helvetica Neue"/>
                <a:ea typeface="Helvetica Neue"/>
                <a:cs typeface="Helvetica Neue"/>
              </a:defRPr>
            </a:pPr>
            <a:r>
              <a:rPr sz="2325" b="0" i="0">
                <a:solidFill>
                  <a:srgbClr val="2D75B8"/>
                </a:solidFill>
                <a:latin typeface="Helvetica Neue"/>
                <a:ea typeface="Helvetica Neue"/>
                <a:cs typeface="Helvetica Neue"/>
              </a:rPr>
              <a:t>KI-Kundenservice mit Transparenz und Kontrolle</a:t>
            </a:r>
          </a:p>
        </p:txBody>
      </p:sp>
      <p:sp>
        <p:nvSpPr>
          <p:cNvPr id="5" name="">
            <a:extLst xmlns:a="http://schemas.openxmlformats.org/drawingml/2006/main">
              <a:ext uri="{FF2B5EF4-FFF2-40B4-BE49-F238E27FC236}">
                <a16:creationId xmlns:a16="http://schemas.microsoft.com/office/drawing/2014/main" id="{BE8A9CB3-93A5-4483-AE5D-78337295AA37}"/>
              </a:ext>
            </a:extLst>
          </p:cNvPr>
          <p:cNvSpPr>
            <a:spLocks xmlns:a="http://schemas.openxmlformats.org/drawingml/2006/main" noGrp="1"/>
          </p:cNvSpPr>
          <p:nvPr/>
        </p:nvSpPr>
        <p:spPr>
          <a:xfrm xmlns:a="http://schemas.openxmlformats.org/drawingml/2006/main">
            <a:off x="628650" y="4648200"/>
            <a:ext cx="4333875" cy="4762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19425D8-FA1E-413F-A87D-FAF0D3D81892}"/>
              </a:ext>
            </a:extLst>
          </p:cNvPr>
          <p:cNvSpPr>
            <a:spLocks xmlns:a="http://schemas.openxmlformats.org/drawingml/2006/main" noGrp="1"/>
          </p:cNvSpPr>
          <p:nvPr/>
        </p:nvSpPr>
        <p:spPr>
          <a:xfrm xmlns:a="http://schemas.openxmlformats.org/drawingml/2006/main">
            <a:off x="628650" y="4933950"/>
            <a:ext cx="838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283D"/>
                </a:solidFill>
                <a:latin typeface="Helvetica Neue"/>
                <a:ea typeface="Helvetica Neue"/>
                <a:cs typeface="Helvetica Neue"/>
              </a:defRPr>
            </a:pPr>
            <a:r>
              <a:rPr sz="1575" b="1" i="0">
                <a:solidFill>
                  <a:srgbClr val="10283D"/>
                </a:solidFill>
                <a:latin typeface="Helvetica Neue"/>
                <a:ea typeface="Helvetica Neue"/>
                <a:cs typeface="Helvetica Neue"/>
              </a:rPr>
              <a:t>Blazor Web App · .NET 8 · Gemini 2.5 Flash</a:t>
            </a:r>
          </a:p>
        </p:txBody>
      </p:sp>
      <p:sp>
        <p:nvSpPr>
          <p:cNvPr id="7" name="">
            <a:extLst xmlns:a="http://schemas.openxmlformats.org/drawingml/2006/main">
              <a:ext uri="{FF2B5EF4-FFF2-40B4-BE49-F238E27FC236}">
                <a16:creationId xmlns:a16="http://schemas.microsoft.com/office/drawing/2014/main" id="{9523C935-C992-4554-BED3-1CE0BDEA2159}"/>
              </a:ext>
            </a:extLst>
          </p:cNvPr>
          <p:cNvSpPr>
            <a:spLocks xmlns:a="http://schemas.openxmlformats.org/drawingml/2006/main" noGrp="1"/>
          </p:cNvSpPr>
          <p:nvPr/>
        </p:nvSpPr>
        <p:spPr>
          <a:xfrm xmlns:a="http://schemas.openxmlformats.org/drawingml/2006/main">
            <a:off x="628650" y="5857875"/>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F7285"/>
                </a:solidFill>
                <a:latin typeface="Helvetica Neue"/>
                <a:ea typeface="Helvetica Neue"/>
                <a:cs typeface="Helvetica Neue"/>
              </a:defRPr>
            </a:pPr>
            <a:r>
              <a:rPr sz="1350" b="0" i="0">
                <a:solidFill>
                  <a:srgbClr val="5F7285"/>
                </a:solidFill>
                <a:latin typeface="Helvetica Neue"/>
                <a:ea typeface="Helvetica Neue"/>
                <a:cs typeface="Helvetica Neue"/>
              </a:rPr>
              <a:t>[VORNAME NACHNAME]  ·  [KLASSE]</a:t>
            </a:r>
          </a:p>
        </p:txBody>
      </p:sp>
    </p:spTree>
    <p:extLst>
      <p:ext uri="{BB962C8B-B14F-4D97-AF65-F5344CB8AC3E}">
        <p14:creationId xmlns:p14="http://schemas.microsoft.com/office/powerpoint/2010/main" val="3286240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A5EFA8-209A-4E9F-96AE-CE5ABD793010}"/>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CB0FD186-EA39-429C-8881-251091E3235D}"/>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Das Problem: schnelle Hilfe ohne falsche Sicherheit</a:t>
            </a:r>
          </a:p>
        </p:txBody>
      </p:sp>
      <p:sp>
        <p:nvSpPr>
          <p:cNvPr id="3" name="">
            <a:extLst xmlns:a="http://schemas.openxmlformats.org/drawingml/2006/main">
              <a:ext uri="{FF2B5EF4-FFF2-40B4-BE49-F238E27FC236}">
                <a16:creationId xmlns:a16="http://schemas.microsoft.com/office/drawing/2014/main" id="{BDF30681-B98D-4C0A-9938-51754A3C395E}"/>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BC2C89-F125-43B0-BE31-68B8D4193B77}"/>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E30A619-00AC-4322-82C9-46F66F60E70D}"/>
              </a:ext>
            </a:extLst>
          </p:cNvPr>
          <p:cNvSpPr>
            <a:spLocks xmlns:a="http://schemas.openxmlformats.org/drawingml/2006/main" noGrp="1"/>
          </p:cNvSpPr>
          <p:nvPr/>
        </p:nvSpPr>
        <p:spPr>
          <a:xfrm xmlns:a="http://schemas.openxmlformats.org/drawingml/2006/main">
            <a:off x="514350" y="1714500"/>
            <a:ext cx="45243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1800" b="0" i="0">
                <a:solidFill>
                  <a:srgbClr val="10283D"/>
                </a:solidFill>
                <a:latin typeface="Helvetica Neue"/>
                <a:ea typeface="Helvetica Neue"/>
                <a:cs typeface="Helvetica Neue"/>
              </a:defRPr>
            </a:pPr>
            <a:r>
              <a:rPr sz="1800" b="0" i="0">
                <a:solidFill>
                  <a:srgbClr val="10283D"/>
                </a:solidFill>
                <a:latin typeface="Helvetica Neue"/>
                <a:ea typeface="Helvetica Neue"/>
                <a:cs typeface="Helvetica Neue"/>
              </a:rPr>
              <a:t>Kundinnen und Kunden wollen sofort wissen, wo ihre Bestellung ist. Eine generative Antwort darf dabei weder Wissen vortäuschen noch den Weg zum Support verstecken.</a:t>
            </a:r>
          </a:p>
        </p:txBody>
      </p:sp>
      <p:sp>
        <p:nvSpPr>
          <p:cNvPr id="6" name="">
            <a:extLst xmlns:a="http://schemas.openxmlformats.org/drawingml/2006/main">
              <a:ext uri="{FF2B5EF4-FFF2-40B4-BE49-F238E27FC236}">
                <a16:creationId xmlns:a16="http://schemas.microsoft.com/office/drawing/2014/main" id="{0BB41A00-D241-4640-808B-CA4A7FE75C96}"/>
              </a:ext>
            </a:extLst>
          </p:cNvPr>
          <p:cNvSpPr>
            <a:spLocks xmlns:a="http://schemas.openxmlformats.org/drawingml/2006/main" noGrp="1"/>
          </p:cNvSpPr>
          <p:nvPr/>
        </p:nvSpPr>
        <p:spPr>
          <a:xfrm xmlns:a="http://schemas.openxmlformats.org/drawingml/2006/main">
            <a:off x="514350" y="33909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1867B"/>
                </a:solidFill>
                <a:latin typeface="Helvetica Neue"/>
                <a:ea typeface="Helvetica Neue"/>
                <a:cs typeface="Helvetica Neue"/>
              </a:defRPr>
            </a:pPr>
            <a:r>
              <a:rPr sz="1650" b="1" i="0">
                <a:solidFill>
                  <a:srgbClr val="11867B"/>
                </a:solidFill>
                <a:latin typeface="Helvetica Neue"/>
                <a:ea typeface="Helvetica Neue"/>
                <a:cs typeface="Helvetica Neue"/>
              </a:rPr>
              <a:t>Produktversprechen</a:t>
            </a:r>
          </a:p>
        </p:txBody>
      </p:sp>
      <p:sp>
        <p:nvSpPr>
          <p:cNvPr id="7" name="">
            <a:extLst xmlns:a="http://schemas.openxmlformats.org/drawingml/2006/main">
              <a:ext uri="{FF2B5EF4-FFF2-40B4-BE49-F238E27FC236}">
                <a16:creationId xmlns:a16="http://schemas.microsoft.com/office/drawing/2014/main" id="{58803977-FBFB-4D35-A24A-D64B2417B0BC}"/>
              </a:ext>
            </a:extLst>
          </p:cNvPr>
          <p:cNvSpPr>
            <a:spLocks xmlns:a="http://schemas.openxmlformats.org/drawingml/2006/main" noGrp="1"/>
          </p:cNvSpPr>
          <p:nvPr/>
        </p:nvSpPr>
        <p:spPr>
          <a:xfrm xmlns:a="http://schemas.openxmlformats.org/drawingml/2006/main">
            <a:off x="514350" y="3914775"/>
            <a:ext cx="3810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i="0">
                <a:solidFill>
                  <a:srgbClr val="0B2A42"/>
                </a:solidFill>
                <a:latin typeface="Helvetica Neue"/>
                <a:ea typeface="Helvetica Neue"/>
                <a:cs typeface="Helvetica Neue"/>
              </a:defRPr>
            </a:pPr>
            <a:r>
              <a:rPr sz="1725" b="0" i="0">
                <a:solidFill>
                  <a:srgbClr val="0B2A42"/>
                </a:solidFill>
                <a:latin typeface="Helvetica Neue"/>
                <a:ea typeface="Helvetica Neue"/>
                <a:cs typeface="Helvetica Neue"/>
              </a:rPr>
              <a:t>• schnelle Antworten</a:t>
            </a:r>
          </a:p>
          <a:p xmlns:a="http://schemas.openxmlformats.org/drawingml/2006/main">
            <a:pPr algn="l">
              <a:defRPr sz="1725" b="0" i="0">
                <a:solidFill>
                  <a:srgbClr val="0B2A42"/>
                </a:solidFill>
                <a:latin typeface="Helvetica Neue"/>
                <a:ea typeface="Helvetica Neue"/>
                <a:cs typeface="Helvetica Neue"/>
              </a:defRPr>
            </a:pPr>
            <a:r>
              <a:rPr sz="1725" b="0" i="0">
                <a:solidFill>
                  <a:srgbClr val="0B2A42"/>
                </a:solidFill>
                <a:latin typeface="Helvetica Neue"/>
                <a:ea typeface="Helvetica Neue"/>
                <a:cs typeface="Helvetica Neue"/>
              </a:rPr>
              <a:t>• sichtbare KI-Herkunft</a:t>
            </a:r>
          </a:p>
          <a:p xmlns:a="http://schemas.openxmlformats.org/drawingml/2006/main">
            <a:pPr algn="l">
              <a:defRPr sz="1725" b="0" i="0">
                <a:solidFill>
                  <a:srgbClr val="0B2A42"/>
                </a:solidFill>
                <a:latin typeface="Helvetica Neue"/>
                <a:ea typeface="Helvetica Neue"/>
                <a:cs typeface="Helvetica Neue"/>
              </a:defRPr>
            </a:pPr>
            <a:r>
              <a:rPr sz="1725" b="0" i="0">
                <a:solidFill>
                  <a:srgbClr val="0B2A42"/>
                </a:solidFill>
                <a:latin typeface="Helvetica Neue"/>
                <a:ea typeface="Helvetica Neue"/>
                <a:cs typeface="Helvetica Neue"/>
              </a:rPr>
              <a:t>• verständliche Grenzen</a:t>
            </a:r>
          </a:p>
          <a:p xmlns:a="http://schemas.openxmlformats.org/drawingml/2006/main">
            <a:pPr algn="l">
              <a:defRPr sz="1725" b="0" i="0">
                <a:solidFill>
                  <a:srgbClr val="0B2A42"/>
                </a:solidFill>
                <a:latin typeface="Helvetica Neue"/>
                <a:ea typeface="Helvetica Neue"/>
                <a:cs typeface="Helvetica Neue"/>
              </a:defRPr>
            </a:pPr>
            <a:r>
              <a:rPr sz="1725" b="0" i="0">
                <a:solidFill>
                  <a:srgbClr val="0B2A42"/>
                </a:solidFill>
                <a:latin typeface="Helvetica Neue"/>
                <a:ea typeface="Helvetica Neue"/>
                <a:cs typeface="Helvetica Neue"/>
              </a:rPr>
              <a:t>• menschliche Eskalation</a:t>
            </a:r>
          </a:p>
        </p:txBody>
      </p:sp>
      <p:sp>
        <p:nvSpPr>
          <p:cNvPr id="8" name="">
            <a:extLst xmlns:a="http://schemas.openxmlformats.org/drawingml/2006/main">
              <a:ext uri="{FF2B5EF4-FFF2-40B4-BE49-F238E27FC236}">
                <a16:creationId xmlns:a16="http://schemas.microsoft.com/office/drawing/2014/main" id="{9A86128F-68EE-40D5-8828-83384D2BA1D6}"/>
              </a:ext>
            </a:extLst>
          </p:cNvPr>
          <p:cNvSpPr>
            <a:spLocks xmlns:a="http://schemas.openxmlformats.org/drawingml/2006/main" noGrp="1"/>
          </p:cNvSpPr>
          <p:nvPr/>
        </p:nvSpPr>
        <p:spPr>
          <a:xfrm xmlns:a="http://schemas.openxmlformats.org/drawingml/2006/main">
            <a:off x="5638800" y="1695450"/>
            <a:ext cx="5772150" cy="3286125"/>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d3cf09623ac4bf3"/>
          <a:stretch xmlns:a="http://schemas.openxmlformats.org/drawingml/2006/main"/>
        </p:blipFill>
        <p:spPr>
          <a:xfrm xmlns:a="http://schemas.openxmlformats.org/drawingml/2006/main">
            <a:off x="6086957" y="1733550"/>
            <a:ext cx="4875835" cy="3209925"/>
          </a:xfrm>
          <a:prstGeom xmlns:a="http://schemas.openxmlformats.org/drawingml/2006/main" prst="roundRect">
            <a:avLst>
              <a:gd name="adj" fmla="val 2374"/>
            </a:avLst>
          </a:prstGeom>
        </p:spPr>
      </p:pic>
      <p:sp>
        <p:nvSpPr>
          <p:cNvPr id="10" name="">
            <a:extLst xmlns:a="http://schemas.openxmlformats.org/drawingml/2006/main">
              <a:ext uri="{FF2B5EF4-FFF2-40B4-BE49-F238E27FC236}">
                <a16:creationId xmlns:a16="http://schemas.microsoft.com/office/drawing/2014/main" id="{9186CF37-B7FE-49D3-A18B-D4030B87FCA6}"/>
              </a:ext>
            </a:extLst>
          </p:cNvPr>
          <p:cNvSpPr>
            <a:spLocks xmlns:a="http://schemas.openxmlformats.org/drawingml/2006/main" noGrp="1"/>
          </p:cNvSpPr>
          <p:nvPr/>
        </p:nvSpPr>
        <p:spPr>
          <a:xfrm xmlns:a="http://schemas.openxmlformats.org/drawingml/2006/main">
            <a:off x="5676900" y="5267325"/>
            <a:ext cx="5695950" cy="685800"/>
          </a:xfrm>
          <a:prstGeom xmlns:a="http://schemas.openxmlformats.org/drawingml/2006/main" prst="roundRect">
            <a:avLst>
              <a:gd name="adj" fmla="val 16667"/>
            </a:avLst>
          </a:prstGeom>
          <a:solidFill xmlns:a="http://schemas.openxmlformats.org/drawingml/2006/main">
            <a:srgbClr val="DDF4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5A471F7-6087-4C39-93DB-33796C610589}"/>
              </a:ext>
            </a:extLst>
          </p:cNvPr>
          <p:cNvSpPr>
            <a:spLocks xmlns:a="http://schemas.openxmlformats.org/drawingml/2006/main" noGrp="1"/>
          </p:cNvSpPr>
          <p:nvPr/>
        </p:nvSpPr>
        <p:spPr>
          <a:xfrm xmlns:a="http://schemas.openxmlformats.org/drawingml/2006/main">
            <a:off x="5915025" y="5476875"/>
            <a:ext cx="521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372"/>
          </a:bodyPr>
          <a:lstStyle xmlns:a="http://schemas.openxmlformats.org/drawingml/2006/main"/>
          <a:p xmlns:a="http://schemas.openxmlformats.org/drawingml/2006/main">
            <a:pPr algn="ctr">
              <a:defRPr sz="1500" b="1" i="0">
                <a:solidFill>
                  <a:srgbClr val="0B2A42"/>
                </a:solidFill>
                <a:latin typeface="Helvetica Neue"/>
                <a:ea typeface="Helvetica Neue"/>
                <a:cs typeface="Helvetica Neue"/>
              </a:defRPr>
            </a:pPr>
            <a:r>
              <a:rPr sz="1500" b="1" i="0">
                <a:solidFill>
                  <a:srgbClr val="0B2A42"/>
                </a:solidFill>
                <a:latin typeface="Helvetica Neue"/>
                <a:ea typeface="Helvetica Neue"/>
                <a:cs typeface="Helvetica Neue"/>
              </a:rPr>
              <a:t>Ein Einstieg, sechs Pflichtscreens, ein durchgängiger Hilfefluss.</a:t>
            </a:r>
          </a:p>
        </p:txBody>
      </p:sp>
    </p:spTree>
    <p:extLst>
      <p:ext uri="{BB962C8B-B14F-4D97-AF65-F5344CB8AC3E}">
        <p14:creationId xmlns:p14="http://schemas.microsoft.com/office/powerpoint/2010/main" val="244125755"/>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D757A4A-B503-4E6C-97EF-4DC833FB342B}"/>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A3FB00C6-54F8-4C2A-B61F-146BF03D78A2}"/>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Drei Personas bestimmen die Oberfläche</a:t>
            </a:r>
          </a:p>
        </p:txBody>
      </p:sp>
      <p:sp>
        <p:nvSpPr>
          <p:cNvPr id="3" name="">
            <a:extLst xmlns:a="http://schemas.openxmlformats.org/drawingml/2006/main">
              <a:ext uri="{FF2B5EF4-FFF2-40B4-BE49-F238E27FC236}">
                <a16:creationId xmlns:a16="http://schemas.microsoft.com/office/drawing/2014/main" id="{9EF9207F-DFAA-48AA-A2B8-C1BC2B2A4942}"/>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CA78EC-CC3D-413A-B60F-35A0EC972A09}"/>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0329857B-98F2-4C99-B998-3D1CE5A26358}"/>
              </a:ext>
            </a:extLst>
          </p:cNvPr>
          <p:cNvSpPr>
            <a:spLocks xmlns:a="http://schemas.openxmlformats.org/drawingml/2006/main" noGrp="1"/>
          </p:cNvSpPr>
          <p:nvPr/>
        </p:nvSpPr>
        <p:spPr>
          <a:xfrm xmlns:a="http://schemas.openxmlformats.org/drawingml/2006/main">
            <a:off x="514350" y="1838325"/>
            <a:ext cx="3257550" cy="47625"/>
          </a:xfrm>
          <a:prstGeom xmlns:a="http://schemas.openxmlformats.org/drawingml/2006/main" prst="rect">
            <a:avLst/>
          </a:prstGeom>
          <a:solidFill xmlns:a="http://schemas.openxmlformats.org/drawingml/2006/main">
            <a:srgbClr val="2D75B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CB3BA3B-14E5-4228-8C85-38EA9B4F6A20}"/>
              </a:ext>
            </a:extLst>
          </p:cNvPr>
          <p:cNvSpPr>
            <a:spLocks xmlns:a="http://schemas.openxmlformats.org/drawingml/2006/main" noGrp="1"/>
          </p:cNvSpPr>
          <p:nvPr/>
        </p:nvSpPr>
        <p:spPr>
          <a:xfrm xmlns:a="http://schemas.openxmlformats.org/drawingml/2006/main">
            <a:off x="514350" y="2047875"/>
            <a:ext cx="3257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0B2A42"/>
                </a:solidFill>
                <a:latin typeface="Helvetica Neue"/>
                <a:ea typeface="Helvetica Neue"/>
                <a:cs typeface="Helvetica Neue"/>
              </a:defRPr>
            </a:pPr>
            <a:r>
              <a:rPr sz="1875" b="1" i="0">
                <a:solidFill>
                  <a:srgbClr val="0B2A42"/>
                </a:solidFill>
                <a:latin typeface="Helvetica Neue"/>
                <a:ea typeface="Helvetica Neue"/>
                <a:cs typeface="Helvetica Neue"/>
              </a:rPr>
              <a:t>Lea · KI-skeptisch</a:t>
            </a:r>
          </a:p>
        </p:txBody>
      </p:sp>
      <p:sp>
        <p:nvSpPr>
          <p:cNvPr id="7" name="">
            <a:extLst xmlns:a="http://schemas.openxmlformats.org/drawingml/2006/main">
              <a:ext uri="{FF2B5EF4-FFF2-40B4-BE49-F238E27FC236}">
                <a16:creationId xmlns:a16="http://schemas.microsoft.com/office/drawing/2014/main" id="{5946BC6D-0A56-49FD-9729-0C645D75AFDA}"/>
              </a:ext>
            </a:extLst>
          </p:cNvPr>
          <p:cNvSpPr>
            <a:spLocks xmlns:a="http://schemas.openxmlformats.org/drawingml/2006/main" noGrp="1"/>
          </p:cNvSpPr>
          <p:nvPr/>
        </p:nvSpPr>
        <p:spPr>
          <a:xfrm xmlns:a="http://schemas.openxmlformats.org/drawingml/2006/main">
            <a:off x="514350" y="2638425"/>
            <a:ext cx="32575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10283D"/>
                </a:solidFill>
                <a:latin typeface="Helvetica Neue"/>
                <a:ea typeface="Helvetica Neue"/>
                <a:cs typeface="Helvetica Neue"/>
              </a:defRPr>
            </a:pPr>
            <a:r>
              <a:rPr sz="1425" b="0" i="0">
                <a:solidFill>
                  <a:srgbClr val="10283D"/>
                </a:solidFill>
                <a:latin typeface="Helvetica Neue"/>
                <a:ea typeface="Helvetica Neue"/>
                <a:cs typeface="Helvetica Neue"/>
              </a:rPr>
              <a:t>Braucht klare KI-Labels, Kontext, Grenzen, Retry, Abbruch und sichtbare Eskalation.</a:t>
            </a:r>
          </a:p>
        </p:txBody>
      </p:sp>
      <p:sp>
        <p:nvSpPr>
          <p:cNvPr id="8" name="">
            <a:extLst xmlns:a="http://schemas.openxmlformats.org/drawingml/2006/main">
              <a:ext uri="{FF2B5EF4-FFF2-40B4-BE49-F238E27FC236}">
                <a16:creationId xmlns:a16="http://schemas.microsoft.com/office/drawing/2014/main" id="{25BAE256-278E-4094-BD79-972DA3C2525A}"/>
              </a:ext>
            </a:extLst>
          </p:cNvPr>
          <p:cNvSpPr>
            <a:spLocks xmlns:a="http://schemas.openxmlformats.org/drawingml/2006/main" noGrp="1"/>
          </p:cNvSpPr>
          <p:nvPr/>
        </p:nvSpPr>
        <p:spPr>
          <a:xfrm xmlns:a="http://schemas.openxmlformats.org/drawingml/2006/main">
            <a:off x="4467225" y="1838325"/>
            <a:ext cx="3257550" cy="4762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1F12ED-DECC-4377-8257-BC7BC8308352}"/>
              </a:ext>
            </a:extLst>
          </p:cNvPr>
          <p:cNvSpPr>
            <a:spLocks xmlns:a="http://schemas.openxmlformats.org/drawingml/2006/main" noGrp="1"/>
          </p:cNvSpPr>
          <p:nvPr/>
        </p:nvSpPr>
        <p:spPr>
          <a:xfrm xmlns:a="http://schemas.openxmlformats.org/drawingml/2006/main">
            <a:off x="4467225" y="2047875"/>
            <a:ext cx="3257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0B2A42"/>
                </a:solidFill>
                <a:latin typeface="Helvetica Neue"/>
                <a:ea typeface="Helvetica Neue"/>
                <a:cs typeface="Helvetica Neue"/>
              </a:defRPr>
            </a:pPr>
            <a:r>
              <a:rPr sz="1875" b="1" i="0">
                <a:solidFill>
                  <a:srgbClr val="0B2A42"/>
                </a:solidFill>
                <a:latin typeface="Helvetica Neue"/>
                <a:ea typeface="Helvetica Neue"/>
                <a:cs typeface="Helvetica Neue"/>
              </a:rPr>
              <a:t>Peter · wenig geübt</a:t>
            </a:r>
          </a:p>
        </p:txBody>
      </p:sp>
      <p:sp>
        <p:nvSpPr>
          <p:cNvPr id="10" name="">
            <a:extLst xmlns:a="http://schemas.openxmlformats.org/drawingml/2006/main">
              <a:ext uri="{FF2B5EF4-FFF2-40B4-BE49-F238E27FC236}">
                <a16:creationId xmlns:a16="http://schemas.microsoft.com/office/drawing/2014/main" id="{BF479FC6-B92C-4AE1-9EBB-5F21090157FB}"/>
              </a:ext>
            </a:extLst>
          </p:cNvPr>
          <p:cNvSpPr>
            <a:spLocks xmlns:a="http://schemas.openxmlformats.org/drawingml/2006/main" noGrp="1"/>
          </p:cNvSpPr>
          <p:nvPr/>
        </p:nvSpPr>
        <p:spPr>
          <a:xfrm xmlns:a="http://schemas.openxmlformats.org/drawingml/2006/main">
            <a:off x="4467225" y="2638425"/>
            <a:ext cx="32575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10283D"/>
                </a:solidFill>
                <a:latin typeface="Helvetica Neue"/>
                <a:ea typeface="Helvetica Neue"/>
                <a:cs typeface="Helvetica Neue"/>
              </a:defRPr>
            </a:pPr>
            <a:r>
              <a:rPr sz="1425" b="0" i="0">
                <a:solidFill>
                  <a:srgbClr val="10283D"/>
                </a:solidFill>
                <a:latin typeface="Helvetica Neue"/>
                <a:ea typeface="Helvetica Neue"/>
                <a:cs typeface="Helvetica Neue"/>
              </a:rPr>
              <a:t>Braucht Schnellfragen, ausgeschriebene Aktionen, Formatbeispiele und verständliche Fehler.</a:t>
            </a:r>
          </a:p>
        </p:txBody>
      </p:sp>
      <p:sp>
        <p:nvSpPr>
          <p:cNvPr id="11" name="">
            <a:extLst xmlns:a="http://schemas.openxmlformats.org/drawingml/2006/main">
              <a:ext uri="{FF2B5EF4-FFF2-40B4-BE49-F238E27FC236}">
                <a16:creationId xmlns:a16="http://schemas.microsoft.com/office/drawing/2014/main" id="{77E06C5C-522F-41A5-B98F-F43F2F3F501B}"/>
              </a:ext>
            </a:extLst>
          </p:cNvPr>
          <p:cNvSpPr>
            <a:spLocks xmlns:a="http://schemas.openxmlformats.org/drawingml/2006/main" noGrp="1"/>
          </p:cNvSpPr>
          <p:nvPr/>
        </p:nvSpPr>
        <p:spPr>
          <a:xfrm xmlns:a="http://schemas.openxmlformats.org/drawingml/2006/main">
            <a:off x="8420100" y="1838325"/>
            <a:ext cx="3257550" cy="47625"/>
          </a:xfrm>
          <a:prstGeom xmlns:a="http://schemas.openxmlformats.org/drawingml/2006/main" prst="rect">
            <a:avLst/>
          </a:prstGeom>
          <a:solidFill xmlns:a="http://schemas.openxmlformats.org/drawingml/2006/main">
            <a:srgbClr val="A85A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3D55FEA-05F5-4737-ABBD-A77A8E1DF897}"/>
              </a:ext>
            </a:extLst>
          </p:cNvPr>
          <p:cNvSpPr>
            <a:spLocks xmlns:a="http://schemas.openxmlformats.org/drawingml/2006/main" noGrp="1"/>
          </p:cNvSpPr>
          <p:nvPr/>
        </p:nvSpPr>
        <p:spPr>
          <a:xfrm xmlns:a="http://schemas.openxmlformats.org/drawingml/2006/main">
            <a:off x="8420100" y="2047875"/>
            <a:ext cx="3257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0B2A42"/>
                </a:solidFill>
                <a:latin typeface="Helvetica Neue"/>
                <a:ea typeface="Helvetica Neue"/>
                <a:cs typeface="Helvetica Neue"/>
              </a:defRPr>
            </a:pPr>
            <a:r>
              <a:rPr sz="1875" b="1" i="0">
                <a:solidFill>
                  <a:srgbClr val="0B2A42"/>
                </a:solidFill>
                <a:latin typeface="Helvetica Neue"/>
                <a:ea typeface="Helvetica Neue"/>
                <a:cs typeface="Helvetica Neue"/>
              </a:rPr>
              <a:t>Nora · blind</a:t>
            </a:r>
          </a:p>
        </p:txBody>
      </p:sp>
      <p:sp>
        <p:nvSpPr>
          <p:cNvPr id="13" name="">
            <a:extLst xmlns:a="http://schemas.openxmlformats.org/drawingml/2006/main">
              <a:ext uri="{FF2B5EF4-FFF2-40B4-BE49-F238E27FC236}">
                <a16:creationId xmlns:a16="http://schemas.microsoft.com/office/drawing/2014/main" id="{532AE0AB-3DB3-4A6D-AA7E-C65DD0FC5D07}"/>
              </a:ext>
            </a:extLst>
          </p:cNvPr>
          <p:cNvSpPr>
            <a:spLocks xmlns:a="http://schemas.openxmlformats.org/drawingml/2006/main" noGrp="1"/>
          </p:cNvSpPr>
          <p:nvPr/>
        </p:nvSpPr>
        <p:spPr>
          <a:xfrm xmlns:a="http://schemas.openxmlformats.org/drawingml/2006/main">
            <a:off x="8420100" y="2638425"/>
            <a:ext cx="32575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10283D"/>
                </a:solidFill>
                <a:latin typeface="Helvetica Neue"/>
                <a:ea typeface="Helvetica Neue"/>
                <a:cs typeface="Helvetica Neue"/>
              </a:defRPr>
            </a:pPr>
            <a:r>
              <a:rPr sz="1425" b="0" i="0">
                <a:solidFill>
                  <a:srgbClr val="10283D"/>
                </a:solidFill>
                <a:latin typeface="Helvetica Neue"/>
                <a:ea typeface="Helvetica Neue"/>
                <a:cs typeface="Helvetica Neue"/>
              </a:rPr>
              <a:t>Braucht Semantik, Tastatursteuerung, aria-live, Fokusmanagement und Sprachein-/ausgabe.</a:t>
            </a:r>
          </a:p>
        </p:txBody>
      </p:sp>
      <p:sp>
        <p:nvSpPr>
          <p:cNvPr id="14" name="">
            <a:extLst xmlns:a="http://schemas.openxmlformats.org/drawingml/2006/main">
              <a:ext uri="{FF2B5EF4-FFF2-40B4-BE49-F238E27FC236}">
                <a16:creationId xmlns:a16="http://schemas.microsoft.com/office/drawing/2014/main" id="{9DCFFFA9-6F5F-4F7B-89AC-BF36C5ABCDFE}"/>
              </a:ext>
            </a:extLst>
          </p:cNvPr>
          <p:cNvSpPr>
            <a:spLocks xmlns:a="http://schemas.openxmlformats.org/drawingml/2006/main" noGrp="1"/>
          </p:cNvSpPr>
          <p:nvPr/>
        </p:nvSpPr>
        <p:spPr>
          <a:xfrm xmlns:a="http://schemas.openxmlformats.org/drawingml/2006/main">
            <a:off x="1381125" y="5372100"/>
            <a:ext cx="942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i="0">
                <a:solidFill>
                  <a:srgbClr val="0B2A42"/>
                </a:solidFill>
                <a:latin typeface="Helvetica Neue"/>
                <a:ea typeface="Helvetica Neue"/>
                <a:cs typeface="Helvetica Neue"/>
              </a:defRPr>
            </a:pPr>
            <a:r>
              <a:rPr sz="1950" b="1" i="0">
                <a:solidFill>
                  <a:srgbClr val="0B2A42"/>
                </a:solidFill>
                <a:latin typeface="Helvetica Neue"/>
                <a:ea typeface="Helvetica Neue"/>
                <a:cs typeface="Helvetica Neue"/>
              </a:rPr>
              <a:t>Die Personas sind bewusst unterschiedlich: Vertrauen, Lernaufwand und Zugänglichkeit werden getrennt überprüfbar.</a:t>
            </a:r>
          </a:p>
        </p:txBody>
      </p:sp>
    </p:spTree>
    <p:extLst>
      <p:ext uri="{BB962C8B-B14F-4D97-AF65-F5344CB8AC3E}">
        <p14:creationId xmlns:p14="http://schemas.microsoft.com/office/powerpoint/2010/main" val="531264773"/>
      </p:ext>
    </p:extLst>
  </p:cSld>
</p:sld>
</file>

<file path=ppt/slides/slide4.xml><?xml version="1.0" encoding="utf-8"?>
<p:sld xmlns:p="http://schemas.openxmlformats.org/presentationml/2006/main">
  <p:cSld>
    <p:bg>
      <p:bgPr>
        <a:solidFill xmlns:a="http://schemas.openxmlformats.org/drawingml/2006/main">
          <a:srgbClr val="0B2A4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FC0DC3-64D4-47BA-A579-BB843C7387D7}"/>
              </a:ext>
            </a:extLst>
          </p:cNvPr>
          <p:cNvSpPr>
            <a:spLocks xmlns:a="http://schemas.openxmlformats.org/drawingml/2006/main" noGrp="1"/>
          </p:cNvSpPr>
          <p:nvPr/>
        </p:nvSpPr>
        <p:spPr>
          <a:xfrm xmlns:a="http://schemas.openxmlformats.org/drawingml/2006/main">
            <a:off x="10953750" y="5143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1" i="0">
                <a:solidFill>
                  <a:srgbClr val="9CCFD0"/>
                </a:solidFill>
                <a:latin typeface="Helvetica Neue"/>
                <a:ea typeface="Helvetica Neue"/>
                <a:cs typeface="Helvetica Neue"/>
              </a:defRPr>
            </a:pPr>
            <a:r>
              <a:rPr sz="1200" b="1" i="0">
                <a:solidFill>
                  <a:srgbClr val="9CCFD0"/>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C98468E7-9AEB-46DA-AC85-1CF3334DE3AB}"/>
              </a:ext>
            </a:extLst>
          </p:cNvPr>
          <p:cNvSpPr>
            <a:spLocks xmlns:a="http://schemas.openxmlformats.org/drawingml/2006/main" noGrp="1"/>
          </p:cNvSpPr>
          <p:nvPr/>
        </p:nvSpPr>
        <p:spPr>
          <a:xfrm xmlns:a="http://schemas.openxmlformats.org/drawingml/2006/main">
            <a:off x="628650" y="7810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i="0">
                <a:solidFill>
                  <a:srgbClr val="FFFFFF"/>
                </a:solidFill>
                <a:latin typeface="Helvetica Neue"/>
                <a:ea typeface="Helvetica Neue"/>
                <a:cs typeface="Helvetica Neue"/>
              </a:defRPr>
            </a:pPr>
            <a:r>
              <a:rPr sz="3450" b="1" i="0">
                <a:solidFill>
                  <a:srgbClr val="FFFFFF"/>
                </a:solidFill>
                <a:latin typeface="Helvetica Neue"/>
                <a:ea typeface="Helvetica Neue"/>
                <a:cs typeface="Helvetica Neue"/>
              </a:rPr>
              <a:t>Vertrauen entsteht durch Kontrolle</a:t>
            </a:r>
          </a:p>
        </p:txBody>
      </p:sp>
      <p:sp>
        <p:nvSpPr>
          <p:cNvPr id="3" name="">
            <a:extLst xmlns:a="http://schemas.openxmlformats.org/drawingml/2006/main">
              <a:ext uri="{FF2B5EF4-FFF2-40B4-BE49-F238E27FC236}">
                <a16:creationId xmlns:a16="http://schemas.microsoft.com/office/drawing/2014/main" id="{B7B9C809-9834-43EF-B304-855BD203AFCD}"/>
              </a:ext>
            </a:extLst>
          </p:cNvPr>
          <p:cNvSpPr>
            <a:spLocks xmlns:a="http://schemas.openxmlformats.org/drawingml/2006/main" noGrp="1"/>
          </p:cNvSpPr>
          <p:nvPr/>
        </p:nvSpPr>
        <p:spPr>
          <a:xfrm xmlns:a="http://schemas.openxmlformats.org/drawingml/2006/main">
            <a:off x="628650" y="156210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0" i="0">
                <a:solidFill>
                  <a:srgbClr val="C8D6E2"/>
                </a:solidFill>
                <a:latin typeface="Helvetica Neue"/>
                <a:ea typeface="Helvetica Neue"/>
                <a:cs typeface="Helvetica Neue"/>
              </a:defRPr>
            </a:pPr>
            <a:r>
              <a:rPr sz="2100" b="0" i="0">
                <a:solidFill>
                  <a:srgbClr val="C8D6E2"/>
                </a:solidFill>
                <a:latin typeface="Helvetica Neue"/>
                <a:ea typeface="Helvetica Neue"/>
                <a:cs typeface="Helvetica Neue"/>
              </a:rPr>
              <a:t>Nicht durch Vermenschlichung.</a:t>
            </a:r>
          </a:p>
        </p:txBody>
      </p:sp>
      <p:sp>
        <p:nvSpPr>
          <p:cNvPr id="4" name="">
            <a:extLst xmlns:a="http://schemas.openxmlformats.org/drawingml/2006/main">
              <a:ext uri="{FF2B5EF4-FFF2-40B4-BE49-F238E27FC236}">
                <a16:creationId xmlns:a16="http://schemas.microsoft.com/office/drawing/2014/main" id="{BBC07095-8A7C-4BBD-952F-786F6A04F04A}"/>
              </a:ext>
            </a:extLst>
          </p:cNvPr>
          <p:cNvSpPr>
            <a:spLocks xmlns:a="http://schemas.openxmlformats.org/drawingml/2006/main" noGrp="1"/>
          </p:cNvSpPr>
          <p:nvPr/>
        </p:nvSpPr>
        <p:spPr>
          <a:xfrm xmlns:a="http://schemas.openxmlformats.org/drawingml/2006/main">
            <a:off x="628650" y="2181225"/>
            <a:ext cx="4333875" cy="47625"/>
          </a:xfrm>
          <a:prstGeom xmlns:a="http://schemas.openxmlformats.org/drawingml/2006/main" prst="rect">
            <a:avLst/>
          </a:prstGeom>
          <a:solidFill xmlns:a="http://schemas.openxmlformats.org/drawingml/2006/main">
            <a:srgbClr val="5FD1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9161C9D-8657-4711-9859-FA1FE68B7BA5}"/>
              </a:ext>
            </a:extLst>
          </p:cNvPr>
          <p:cNvSpPr>
            <a:spLocks xmlns:a="http://schemas.openxmlformats.org/drawingml/2006/main" noGrp="1"/>
          </p:cNvSpPr>
          <p:nvPr/>
        </p:nvSpPr>
        <p:spPr>
          <a:xfrm xmlns:a="http://schemas.openxmlformats.org/drawingml/2006/main">
            <a:off x="628650" y="26955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5FD1C4"/>
                </a:solidFill>
                <a:latin typeface="Helvetica Neue"/>
                <a:ea typeface="Helvetica Neue"/>
                <a:cs typeface="Helvetica Neue"/>
              </a:defRPr>
            </a:pPr>
            <a:r>
              <a:rPr sz="1350" b="1" i="0">
                <a:solidFill>
                  <a:srgbClr val="5FD1C4"/>
                </a:solidFill>
                <a:latin typeface="Helvetica Neue"/>
                <a:ea typeface="Helvetica Neue"/>
                <a:cs typeface="Helvetica Neue"/>
              </a:rPr>
              <a:t>TRANSPARENZ</a:t>
            </a:r>
          </a:p>
        </p:txBody>
      </p:sp>
      <p:sp>
        <p:nvSpPr>
          <p:cNvPr id="6" name="">
            <a:extLst xmlns:a="http://schemas.openxmlformats.org/drawingml/2006/main">
              <a:ext uri="{FF2B5EF4-FFF2-40B4-BE49-F238E27FC236}">
                <a16:creationId xmlns:a16="http://schemas.microsoft.com/office/drawing/2014/main" id="{B54F1A07-AF91-4CE6-88FD-2FBCA16DB232}"/>
              </a:ext>
            </a:extLst>
          </p:cNvPr>
          <p:cNvSpPr>
            <a:spLocks xmlns:a="http://schemas.openxmlformats.org/drawingml/2006/main" noGrp="1"/>
          </p:cNvSpPr>
          <p:nvPr/>
        </p:nvSpPr>
        <p:spPr>
          <a:xfrm xmlns:a="http://schemas.openxmlformats.org/drawingml/2006/main">
            <a:off x="628650" y="3152775"/>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KI-GENERIERT</a:t>
            </a:r>
          </a:p>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Modell sichtbar</a:t>
            </a:r>
          </a:p>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Kontext und Grenzen</a:t>
            </a:r>
          </a:p>
        </p:txBody>
      </p:sp>
      <p:sp>
        <p:nvSpPr>
          <p:cNvPr id="7" name="">
            <a:extLst xmlns:a="http://schemas.openxmlformats.org/drawingml/2006/main">
              <a:ext uri="{FF2B5EF4-FFF2-40B4-BE49-F238E27FC236}">
                <a16:creationId xmlns:a16="http://schemas.microsoft.com/office/drawing/2014/main" id="{2EB02A0A-9847-4E13-8425-D66886B14CB9}"/>
              </a:ext>
            </a:extLst>
          </p:cNvPr>
          <p:cNvSpPr>
            <a:spLocks xmlns:a="http://schemas.openxmlformats.org/drawingml/2006/main" noGrp="1"/>
          </p:cNvSpPr>
          <p:nvPr/>
        </p:nvSpPr>
        <p:spPr>
          <a:xfrm xmlns:a="http://schemas.openxmlformats.org/drawingml/2006/main">
            <a:off x="4410075" y="26955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82BEE8"/>
                </a:solidFill>
                <a:latin typeface="Helvetica Neue"/>
                <a:ea typeface="Helvetica Neue"/>
                <a:cs typeface="Helvetica Neue"/>
              </a:defRPr>
            </a:pPr>
            <a:r>
              <a:rPr sz="1350" b="1" i="0">
                <a:solidFill>
                  <a:srgbClr val="82BEE8"/>
                </a:solidFill>
                <a:latin typeface="Helvetica Neue"/>
                <a:ea typeface="Helvetica Neue"/>
                <a:cs typeface="Helvetica Neue"/>
              </a:rPr>
              <a:t>STEUERBARKEIT</a:t>
            </a:r>
          </a:p>
        </p:txBody>
      </p:sp>
      <p:sp>
        <p:nvSpPr>
          <p:cNvPr id="8" name="">
            <a:extLst xmlns:a="http://schemas.openxmlformats.org/drawingml/2006/main">
              <a:ext uri="{FF2B5EF4-FFF2-40B4-BE49-F238E27FC236}">
                <a16:creationId xmlns:a16="http://schemas.microsoft.com/office/drawing/2014/main" id="{4D899055-E392-4C62-BCD9-4C89396A0FF8}"/>
              </a:ext>
            </a:extLst>
          </p:cNvPr>
          <p:cNvSpPr>
            <a:spLocks xmlns:a="http://schemas.openxmlformats.org/drawingml/2006/main" noGrp="1"/>
          </p:cNvSpPr>
          <p:nvPr/>
        </p:nvSpPr>
        <p:spPr>
          <a:xfrm xmlns:a="http://schemas.openxmlformats.org/drawingml/2006/main">
            <a:off x="4410075" y="3152775"/>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Abbrechen</a:t>
            </a:r>
          </a:p>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Erneut versuchen</a:t>
            </a:r>
          </a:p>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Feedback geben</a:t>
            </a:r>
          </a:p>
        </p:txBody>
      </p:sp>
      <p:sp>
        <p:nvSpPr>
          <p:cNvPr id="9" name="">
            <a:extLst xmlns:a="http://schemas.openxmlformats.org/drawingml/2006/main">
              <a:ext uri="{FF2B5EF4-FFF2-40B4-BE49-F238E27FC236}">
                <a16:creationId xmlns:a16="http://schemas.microsoft.com/office/drawing/2014/main" id="{5001BAFD-EE59-41A6-8B5A-D9A0BBEC1FFE}"/>
              </a:ext>
            </a:extLst>
          </p:cNvPr>
          <p:cNvSpPr>
            <a:spLocks xmlns:a="http://schemas.openxmlformats.org/drawingml/2006/main" noGrp="1"/>
          </p:cNvSpPr>
          <p:nvPr/>
        </p:nvSpPr>
        <p:spPr>
          <a:xfrm xmlns:a="http://schemas.openxmlformats.org/drawingml/2006/main">
            <a:off x="8191500" y="26955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FFD47B"/>
                </a:solidFill>
                <a:latin typeface="Helvetica Neue"/>
                <a:ea typeface="Helvetica Neue"/>
                <a:cs typeface="Helvetica Neue"/>
              </a:defRPr>
            </a:pPr>
            <a:r>
              <a:rPr sz="1350" b="1" i="0">
                <a:solidFill>
                  <a:srgbClr val="FFD47B"/>
                </a:solidFill>
                <a:latin typeface="Helvetica Neue"/>
                <a:ea typeface="Helvetica Neue"/>
                <a:cs typeface="Helvetica Neue"/>
              </a:rPr>
              <a:t>FEHLERTOLERANZ</a:t>
            </a:r>
          </a:p>
        </p:txBody>
      </p:sp>
      <p:sp>
        <p:nvSpPr>
          <p:cNvPr id="10" name="">
            <a:extLst xmlns:a="http://schemas.openxmlformats.org/drawingml/2006/main">
              <a:ext uri="{FF2B5EF4-FFF2-40B4-BE49-F238E27FC236}">
                <a16:creationId xmlns:a16="http://schemas.microsoft.com/office/drawing/2014/main" id="{E6635046-8EE5-419D-826C-1AF204C0CFCE}"/>
              </a:ext>
            </a:extLst>
          </p:cNvPr>
          <p:cNvSpPr>
            <a:spLocks xmlns:a="http://schemas.openxmlformats.org/drawingml/2006/main" noGrp="1"/>
          </p:cNvSpPr>
          <p:nvPr/>
        </p:nvSpPr>
        <p:spPr>
          <a:xfrm xmlns:a="http://schemas.openxmlformats.org/drawingml/2006/main">
            <a:off x="8191500" y="31527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Frage bleibt erhalten</a:t>
            </a:r>
          </a:p>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klare Wiederherstellung</a:t>
            </a:r>
          </a:p>
          <a:p xmlns:a="http://schemas.openxmlformats.org/drawingml/2006/main">
            <a:pPr algn="l">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Support übernehmen</a:t>
            </a:r>
          </a:p>
        </p:txBody>
      </p:sp>
      <p:sp>
        <p:nvSpPr>
          <p:cNvPr id="11" name="">
            <a:extLst xmlns:a="http://schemas.openxmlformats.org/drawingml/2006/main">
              <a:ext uri="{FF2B5EF4-FFF2-40B4-BE49-F238E27FC236}">
                <a16:creationId xmlns:a16="http://schemas.microsoft.com/office/drawing/2014/main" id="{D91BB04D-71C7-4767-B3C5-D049AAFE4B80}"/>
              </a:ext>
            </a:extLst>
          </p:cNvPr>
          <p:cNvSpPr>
            <a:spLocks xmlns:a="http://schemas.openxmlformats.org/drawingml/2006/main" noGrp="1"/>
          </p:cNvSpPr>
          <p:nvPr/>
        </p:nvSpPr>
        <p:spPr>
          <a:xfrm xmlns:a="http://schemas.openxmlformats.org/drawingml/2006/main">
            <a:off x="628650" y="5657850"/>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i="0">
                <a:solidFill>
                  <a:srgbClr val="C8D6E2"/>
                </a:solidFill>
                <a:latin typeface="Helvetica Neue"/>
                <a:ea typeface="Helvetica Neue"/>
                <a:cs typeface="Helvetica Neue"/>
              </a:defRPr>
            </a:pPr>
            <a:r>
              <a:rPr sz="1575" b="0" i="0">
                <a:solidFill>
                  <a:srgbClr val="C8D6E2"/>
                </a:solidFill>
                <a:latin typeface="Helvetica Neue"/>
                <a:ea typeface="Helvetica Neue"/>
                <a:cs typeface="Helvetica Neue"/>
              </a:rPr>
              <a:t>Die sieben ergonomischen Dialoggrundsätze werden dort angewendet, wo sie die Aufgabe messbar verbessern.</a:t>
            </a:r>
          </a:p>
        </p:txBody>
      </p:sp>
    </p:spTree>
    <p:extLst>
      <p:ext uri="{BB962C8B-B14F-4D97-AF65-F5344CB8AC3E}">
        <p14:creationId xmlns:p14="http://schemas.microsoft.com/office/powerpoint/2010/main" val="7191466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86812CE-9323-4B05-A71E-D11D711DED83}"/>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B76190F0-1F26-49E5-8369-B5D7F3DCBF55}"/>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Zwei Chatvarianten – Variante B wird umgesetzt</a:t>
            </a:r>
          </a:p>
        </p:txBody>
      </p:sp>
      <p:sp>
        <p:nvSpPr>
          <p:cNvPr id="3" name="">
            <a:extLst xmlns:a="http://schemas.openxmlformats.org/drawingml/2006/main">
              <a:ext uri="{FF2B5EF4-FFF2-40B4-BE49-F238E27FC236}">
                <a16:creationId xmlns:a16="http://schemas.microsoft.com/office/drawing/2014/main" id="{2D73811C-BBA8-4251-AB7E-11BA6B32A940}"/>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BAC597-48AF-4E74-BD09-AFEB98490806}"/>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65909509-F05E-4860-9947-34F34B0862DD}"/>
              </a:ext>
            </a:extLst>
          </p:cNvPr>
          <p:cNvSpPr>
            <a:spLocks xmlns:a="http://schemas.openxmlformats.org/drawingml/2006/main" noGrp="1"/>
          </p:cNvSpPr>
          <p:nvPr/>
        </p:nvSpPr>
        <p:spPr>
          <a:xfrm xmlns:a="http://schemas.openxmlformats.org/drawingml/2006/main">
            <a:off x="476250" y="1752600"/>
            <a:ext cx="5314950" cy="3019425"/>
          </a:xfrm>
          <a:prstGeom xmlns:a="http://schemas.openxmlformats.org/drawingml/2006/main" prst="roundRect">
            <a:avLst>
              <a:gd name="adj" fmla="val 3785"/>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bf32324c70440b2"/>
          <a:stretch xmlns:a="http://schemas.openxmlformats.org/drawingml/2006/main"/>
        </p:blipFill>
        <p:spPr>
          <a:xfrm xmlns:a="http://schemas.openxmlformats.org/drawingml/2006/main">
            <a:off x="898364" y="1790700"/>
            <a:ext cx="4470722" cy="2943225"/>
          </a:xfrm>
          <a:prstGeom xmlns:a="http://schemas.openxmlformats.org/drawingml/2006/main" prst="roundRect">
            <a:avLst>
              <a:gd name="adj" fmla="val 2589"/>
            </a:avLst>
          </a:prstGeom>
        </p:spPr>
      </p:pic>
      <p:sp>
        <p:nvSpPr>
          <p:cNvPr id="7" name="">
            <a:extLst xmlns:a="http://schemas.openxmlformats.org/drawingml/2006/main">
              <a:ext uri="{FF2B5EF4-FFF2-40B4-BE49-F238E27FC236}">
                <a16:creationId xmlns:a16="http://schemas.microsoft.com/office/drawing/2014/main" id="{4CD0DBF0-17E2-4E82-B62E-9F5F5D925755}"/>
              </a:ext>
            </a:extLst>
          </p:cNvPr>
          <p:cNvSpPr>
            <a:spLocks xmlns:a="http://schemas.openxmlformats.org/drawingml/2006/main" noGrp="1"/>
          </p:cNvSpPr>
          <p:nvPr/>
        </p:nvSpPr>
        <p:spPr>
          <a:xfrm xmlns:a="http://schemas.openxmlformats.org/drawingml/2006/main">
            <a:off x="6400800" y="1752600"/>
            <a:ext cx="5314950" cy="3019425"/>
          </a:xfrm>
          <a:prstGeom xmlns:a="http://schemas.openxmlformats.org/drawingml/2006/main" prst="roundRect">
            <a:avLst>
              <a:gd name="adj" fmla="val 3785"/>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e2ba86291744e8c"/>
          <a:stretch xmlns:a="http://schemas.openxmlformats.org/drawingml/2006/main"/>
        </p:blipFill>
        <p:spPr>
          <a:xfrm xmlns:a="http://schemas.openxmlformats.org/drawingml/2006/main">
            <a:off x="6822914" y="1790700"/>
            <a:ext cx="4470722" cy="2943225"/>
          </a:xfrm>
          <a:prstGeom xmlns:a="http://schemas.openxmlformats.org/drawingml/2006/main" prst="roundRect">
            <a:avLst>
              <a:gd name="adj" fmla="val 2589"/>
            </a:avLst>
          </a:prstGeom>
        </p:spPr>
      </p:pic>
      <p:sp>
        <p:nvSpPr>
          <p:cNvPr id="9" name="">
            <a:extLst xmlns:a="http://schemas.openxmlformats.org/drawingml/2006/main">
              <a:ext uri="{FF2B5EF4-FFF2-40B4-BE49-F238E27FC236}">
                <a16:creationId xmlns:a16="http://schemas.microsoft.com/office/drawing/2014/main" id="{67A708C1-C5D3-4A2C-A78D-5883D809E913}"/>
              </a:ext>
            </a:extLst>
          </p:cNvPr>
          <p:cNvSpPr>
            <a:spLocks xmlns:a="http://schemas.openxmlformats.org/drawingml/2006/main" noGrp="1"/>
          </p:cNvSpPr>
          <p:nvPr/>
        </p:nvSpPr>
        <p:spPr>
          <a:xfrm xmlns:a="http://schemas.openxmlformats.org/drawingml/2006/main">
            <a:off x="514350" y="501015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5F7285"/>
                </a:solidFill>
                <a:latin typeface="Helvetica Neue"/>
                <a:ea typeface="Helvetica Neue"/>
                <a:cs typeface="Helvetica Neue"/>
              </a:defRPr>
            </a:pPr>
            <a:r>
              <a:rPr sz="1875" b="1" i="0">
                <a:solidFill>
                  <a:srgbClr val="5F7285"/>
                </a:solidFill>
                <a:latin typeface="Helvetica Neue"/>
                <a:ea typeface="Helvetica Neue"/>
                <a:cs typeface="Helvetica Neue"/>
              </a:rPr>
              <a:t>A · minimal</a:t>
            </a:r>
          </a:p>
        </p:txBody>
      </p:sp>
      <p:sp>
        <p:nvSpPr>
          <p:cNvPr id="10" name="">
            <a:extLst xmlns:a="http://schemas.openxmlformats.org/drawingml/2006/main">
              <a:ext uri="{FF2B5EF4-FFF2-40B4-BE49-F238E27FC236}">
                <a16:creationId xmlns:a16="http://schemas.microsoft.com/office/drawing/2014/main" id="{2CC9133E-A428-4BD6-9FF9-E4CC513218DB}"/>
              </a:ext>
            </a:extLst>
          </p:cNvPr>
          <p:cNvSpPr>
            <a:spLocks xmlns:a="http://schemas.openxmlformats.org/drawingml/2006/main" noGrp="1"/>
          </p:cNvSpPr>
          <p:nvPr/>
        </p:nvSpPr>
        <p:spPr>
          <a:xfrm xmlns:a="http://schemas.openxmlformats.org/drawingml/2006/main">
            <a:off x="6438900" y="501015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1867B"/>
                </a:solidFill>
                <a:latin typeface="Helvetica Neue"/>
                <a:ea typeface="Helvetica Neue"/>
                <a:cs typeface="Helvetica Neue"/>
              </a:defRPr>
            </a:pPr>
            <a:r>
              <a:rPr sz="1875" b="1" i="0">
                <a:solidFill>
                  <a:srgbClr val="11867B"/>
                </a:solidFill>
                <a:latin typeface="Helvetica Neue"/>
                <a:ea typeface="Helvetica Neue"/>
                <a:cs typeface="Helvetica Neue"/>
              </a:rPr>
              <a:t>B · reichhaltig und ausgewählt</a:t>
            </a:r>
          </a:p>
        </p:txBody>
      </p:sp>
      <p:sp>
        <p:nvSpPr>
          <p:cNvPr id="11" name="">
            <a:extLst xmlns:a="http://schemas.openxmlformats.org/drawingml/2006/main">
              <a:ext uri="{FF2B5EF4-FFF2-40B4-BE49-F238E27FC236}">
                <a16:creationId xmlns:a16="http://schemas.microsoft.com/office/drawing/2014/main" id="{BA85E8B9-D3EA-47D7-B552-38C4C5741B95}"/>
              </a:ext>
            </a:extLst>
          </p:cNvPr>
          <p:cNvSpPr>
            <a:spLocks xmlns:a="http://schemas.openxmlformats.org/drawingml/2006/main" noGrp="1"/>
          </p:cNvSpPr>
          <p:nvPr/>
        </p:nvSpPr>
        <p:spPr>
          <a:xfrm xmlns:a="http://schemas.openxmlformats.org/drawingml/2006/main">
            <a:off x="514350" y="5467350"/>
            <a:ext cx="523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0283D"/>
                </a:solidFill>
                <a:latin typeface="Helvetica Neue"/>
                <a:ea typeface="Helvetica Neue"/>
                <a:cs typeface="Helvetica Neue"/>
              </a:defRPr>
            </a:pPr>
            <a:r>
              <a:rPr sz="1350" b="0" i="0">
                <a:solidFill>
                  <a:srgbClr val="10283D"/>
                </a:solidFill>
                <a:latin typeface="Helvetica Neue"/>
                <a:ea typeface="Helvetica Neue"/>
                <a:cs typeface="Helvetica Neue"/>
              </a:rPr>
              <a:t>Wenig Ablenkung, aber Kontext und Kontrollmöglichkeiten sind schwerer auffindbar.</a:t>
            </a:r>
          </a:p>
        </p:txBody>
      </p:sp>
      <p:sp>
        <p:nvSpPr>
          <p:cNvPr id="12" name="">
            <a:extLst xmlns:a="http://schemas.openxmlformats.org/drawingml/2006/main">
              <a:ext uri="{FF2B5EF4-FFF2-40B4-BE49-F238E27FC236}">
                <a16:creationId xmlns:a16="http://schemas.microsoft.com/office/drawing/2014/main" id="{3B1EDEFD-32F0-4932-A7AA-2570BEC45E28}"/>
              </a:ext>
            </a:extLst>
          </p:cNvPr>
          <p:cNvSpPr>
            <a:spLocks xmlns:a="http://schemas.openxmlformats.org/drawingml/2006/main" noGrp="1"/>
          </p:cNvSpPr>
          <p:nvPr/>
        </p:nvSpPr>
        <p:spPr>
          <a:xfrm xmlns:a="http://schemas.openxmlformats.org/drawingml/2006/main">
            <a:off x="6438900" y="5467350"/>
            <a:ext cx="523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0283D"/>
                </a:solidFill>
                <a:latin typeface="Helvetica Neue"/>
                <a:ea typeface="Helvetica Neue"/>
                <a:cs typeface="Helvetica Neue"/>
              </a:defRPr>
            </a:pPr>
            <a:r>
              <a:rPr sz="1350" b="0" i="0">
                <a:solidFill>
                  <a:srgbClr val="10283D"/>
                </a:solidFill>
                <a:latin typeface="Helvetica Neue"/>
                <a:ea typeface="Helvetica Neue"/>
                <a:cs typeface="Helvetica Neue"/>
              </a:rPr>
              <a:t>Verlauf, Schnellfragen, Modellstatus, Feedback und Eskalation bleiben direkt erreichbar.</a:t>
            </a:r>
          </a:p>
        </p:txBody>
      </p:sp>
    </p:spTree>
    <p:extLst>
      <p:ext uri="{BB962C8B-B14F-4D97-AF65-F5344CB8AC3E}">
        <p14:creationId xmlns:p14="http://schemas.microsoft.com/office/powerpoint/2010/main" val="532379477"/>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6B010-AB78-46D3-85C4-257FB10E8C87}"/>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8CA15DD5-B94B-4127-90B3-84ED4A8CE0E6}"/>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Der Flow deckt Erfolg, Fehler und Übergabe ab</a:t>
            </a:r>
          </a:p>
        </p:txBody>
      </p:sp>
      <p:sp>
        <p:nvSpPr>
          <p:cNvPr id="3" name="">
            <a:extLst xmlns:a="http://schemas.openxmlformats.org/drawingml/2006/main">
              <a:ext uri="{FF2B5EF4-FFF2-40B4-BE49-F238E27FC236}">
                <a16:creationId xmlns:a16="http://schemas.microsoft.com/office/drawing/2014/main" id="{D9EA8F67-F025-4F55-A2B0-E3B4FB79CD1D}"/>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A18F91-8958-41A1-83C7-AE6BDAFB26F2}"/>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AF5DAE32-576B-4BF6-A6C5-42BE49D0F389}"/>
              </a:ext>
            </a:extLst>
          </p:cNvPr>
          <p:cNvSpPr>
            <a:spLocks xmlns:a="http://schemas.openxmlformats.org/drawingml/2006/main" noGrp="1"/>
          </p:cNvSpPr>
          <p:nvPr/>
        </p:nvSpPr>
        <p:spPr>
          <a:xfrm xmlns:a="http://schemas.openxmlformats.org/drawingml/2006/main">
            <a:off x="476250" y="1790700"/>
            <a:ext cx="5295900" cy="3009900"/>
          </a:xfrm>
          <a:prstGeom xmlns:a="http://schemas.openxmlformats.org/drawingml/2006/main" prst="roundRect">
            <a:avLst>
              <a:gd name="adj" fmla="val 379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62d876a617d4014"/>
          <a:stretch xmlns:a="http://schemas.openxmlformats.org/drawingml/2006/main"/>
        </p:blipFill>
        <p:spPr>
          <a:xfrm xmlns:a="http://schemas.openxmlformats.org/drawingml/2006/main">
            <a:off x="896073" y="1828800"/>
            <a:ext cx="4456253" cy="2933700"/>
          </a:xfrm>
          <a:prstGeom xmlns:a="http://schemas.openxmlformats.org/drawingml/2006/main" prst="roundRect">
            <a:avLst>
              <a:gd name="adj" fmla="val 2597"/>
            </a:avLst>
          </a:prstGeom>
        </p:spPr>
      </p:pic>
      <p:sp>
        <p:nvSpPr>
          <p:cNvPr id="7" name="">
            <a:extLst xmlns:a="http://schemas.openxmlformats.org/drawingml/2006/main">
              <a:ext uri="{FF2B5EF4-FFF2-40B4-BE49-F238E27FC236}">
                <a16:creationId xmlns:a16="http://schemas.microsoft.com/office/drawing/2014/main" id="{54907DDF-032E-4ED1-9A81-E147893EF634}"/>
              </a:ext>
            </a:extLst>
          </p:cNvPr>
          <p:cNvSpPr>
            <a:spLocks xmlns:a="http://schemas.openxmlformats.org/drawingml/2006/main" noGrp="1"/>
          </p:cNvSpPr>
          <p:nvPr/>
        </p:nvSpPr>
        <p:spPr>
          <a:xfrm xmlns:a="http://schemas.openxmlformats.org/drawingml/2006/main">
            <a:off x="6419850" y="1790700"/>
            <a:ext cx="5295900" cy="3009900"/>
          </a:xfrm>
          <a:prstGeom xmlns:a="http://schemas.openxmlformats.org/drawingml/2006/main" prst="roundRect">
            <a:avLst>
              <a:gd name="adj" fmla="val 379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bf60eb986ff48d9"/>
          <a:stretch xmlns:a="http://schemas.openxmlformats.org/drawingml/2006/main"/>
        </p:blipFill>
        <p:spPr>
          <a:xfrm xmlns:a="http://schemas.openxmlformats.org/drawingml/2006/main">
            <a:off x="6839673" y="1828800"/>
            <a:ext cx="4456253" cy="2933700"/>
          </a:xfrm>
          <a:prstGeom xmlns:a="http://schemas.openxmlformats.org/drawingml/2006/main" prst="roundRect">
            <a:avLst>
              <a:gd name="adj" fmla="val 2597"/>
            </a:avLst>
          </a:prstGeom>
        </p:spPr>
      </p:pic>
      <p:sp>
        <p:nvSpPr>
          <p:cNvPr id="9" name="">
            <a:extLst xmlns:a="http://schemas.openxmlformats.org/drawingml/2006/main">
              <a:ext uri="{FF2B5EF4-FFF2-40B4-BE49-F238E27FC236}">
                <a16:creationId xmlns:a16="http://schemas.microsoft.com/office/drawing/2014/main" id="{021581C2-DEF2-4FF1-AB1E-4C76F6CDAE02}"/>
              </a:ext>
            </a:extLst>
          </p:cNvPr>
          <p:cNvSpPr>
            <a:spLocks xmlns:a="http://schemas.openxmlformats.org/drawingml/2006/main" noGrp="1"/>
          </p:cNvSpPr>
          <p:nvPr/>
        </p:nvSpPr>
        <p:spPr>
          <a:xfrm xmlns:a="http://schemas.openxmlformats.org/drawingml/2006/main">
            <a:off x="514350" y="5095875"/>
            <a:ext cx="521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2D75B8"/>
                </a:solidFill>
                <a:latin typeface="Helvetica Neue"/>
                <a:ea typeface="Helvetica Neue"/>
                <a:cs typeface="Helvetica Neue"/>
              </a:defRPr>
            </a:pPr>
            <a:r>
              <a:rPr sz="1800" b="1" i="0">
                <a:solidFill>
                  <a:srgbClr val="2D75B8"/>
                </a:solidFill>
                <a:latin typeface="Helvetica Neue"/>
                <a:ea typeface="Helvetica Neue"/>
                <a:cs typeface="Helvetica Neue"/>
              </a:rPr>
              <a:t>Screen-Flow</a:t>
            </a:r>
          </a:p>
        </p:txBody>
      </p:sp>
      <p:sp>
        <p:nvSpPr>
          <p:cNvPr id="10" name="">
            <a:extLst xmlns:a="http://schemas.openxmlformats.org/drawingml/2006/main">
              <a:ext uri="{FF2B5EF4-FFF2-40B4-BE49-F238E27FC236}">
                <a16:creationId xmlns:a16="http://schemas.microsoft.com/office/drawing/2014/main" id="{AE65EC77-F221-4E06-9A1F-4773D36AB85E}"/>
              </a:ext>
            </a:extLst>
          </p:cNvPr>
          <p:cNvSpPr>
            <a:spLocks xmlns:a="http://schemas.openxmlformats.org/drawingml/2006/main" noGrp="1"/>
          </p:cNvSpPr>
          <p:nvPr/>
        </p:nvSpPr>
        <p:spPr>
          <a:xfrm xmlns:a="http://schemas.openxmlformats.org/drawingml/2006/main">
            <a:off x="6457950" y="5095875"/>
            <a:ext cx="521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1867B"/>
                </a:solidFill>
                <a:latin typeface="Helvetica Neue"/>
                <a:ea typeface="Helvetica Neue"/>
                <a:cs typeface="Helvetica Neue"/>
              </a:defRPr>
            </a:pPr>
            <a:r>
              <a:rPr sz="1800" b="1" i="0">
                <a:solidFill>
                  <a:srgbClr val="11867B"/>
                </a:solidFill>
                <a:latin typeface="Helvetica Neue"/>
                <a:ea typeface="Helvetica Neue"/>
                <a:cs typeface="Helvetica Neue"/>
              </a:rPr>
              <a:t>Zustands-Flow</a:t>
            </a:r>
          </a:p>
        </p:txBody>
      </p:sp>
      <p:sp>
        <p:nvSpPr>
          <p:cNvPr id="11" name="">
            <a:extLst xmlns:a="http://schemas.openxmlformats.org/drawingml/2006/main">
              <a:ext uri="{FF2B5EF4-FFF2-40B4-BE49-F238E27FC236}">
                <a16:creationId xmlns:a16="http://schemas.microsoft.com/office/drawing/2014/main" id="{DCCFC530-9284-4A26-9C22-7C2C64002FDC}"/>
              </a:ext>
            </a:extLst>
          </p:cNvPr>
          <p:cNvSpPr>
            <a:spLocks xmlns:a="http://schemas.openxmlformats.org/drawingml/2006/main" noGrp="1"/>
          </p:cNvSpPr>
          <p:nvPr/>
        </p:nvSpPr>
        <p:spPr>
          <a:xfrm xmlns:a="http://schemas.openxmlformats.org/drawingml/2006/main">
            <a:off x="1914525" y="5772150"/>
            <a:ext cx="836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i="0">
                <a:solidFill>
                  <a:srgbClr val="0B2A42"/>
                </a:solidFill>
                <a:latin typeface="Helvetica Neue"/>
                <a:ea typeface="Helvetica Neue"/>
                <a:cs typeface="Helvetica Neue"/>
              </a:defRPr>
            </a:pPr>
            <a:r>
              <a:rPr sz="1725" b="1" i="0">
                <a:solidFill>
                  <a:srgbClr val="0B2A42"/>
                </a:solidFill>
                <a:latin typeface="Helvetica Neue"/>
                <a:ea typeface="Helvetica Neue"/>
                <a:cs typeface="Helvetica Neue"/>
              </a:rPr>
              <a:t>Jeder Zustand liefert Feedback und erhält eine handlungsfähige nächste Aktion.</a:t>
            </a:r>
          </a:p>
        </p:txBody>
      </p:sp>
    </p:spTree>
    <p:extLst>
      <p:ext uri="{BB962C8B-B14F-4D97-AF65-F5344CB8AC3E}">
        <p14:creationId xmlns:p14="http://schemas.microsoft.com/office/powerpoint/2010/main" val="21382424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4685B4-34FB-4855-86A9-8BBF8E06D48D}"/>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A439DCEF-1CB7-49DD-B213-85D4664B292E}"/>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Live-Demo: Erfolg, Eskalation und Timeout</a:t>
            </a:r>
          </a:p>
        </p:txBody>
      </p:sp>
      <p:sp>
        <p:nvSpPr>
          <p:cNvPr id="3" name="">
            <a:extLst xmlns:a="http://schemas.openxmlformats.org/drawingml/2006/main">
              <a:ext uri="{FF2B5EF4-FFF2-40B4-BE49-F238E27FC236}">
                <a16:creationId xmlns:a16="http://schemas.microsoft.com/office/drawing/2014/main" id="{7D0D9765-C829-4C2C-B70F-364F0153A6C5}"/>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0EA13B-B58D-43F9-ACC3-C0B8915FF0D4}"/>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EEC41D86-5B1B-4B23-A2AC-7E3CC9BAE18E}"/>
              </a:ext>
            </a:extLst>
          </p:cNvPr>
          <p:cNvSpPr>
            <a:spLocks xmlns:a="http://schemas.openxmlformats.org/drawingml/2006/main" noGrp="1"/>
          </p:cNvSpPr>
          <p:nvPr/>
        </p:nvSpPr>
        <p:spPr>
          <a:xfrm xmlns:a="http://schemas.openxmlformats.org/drawingml/2006/main">
            <a:off x="552450" y="1885950"/>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867B"/>
                </a:solidFill>
                <a:latin typeface="Helvetica Neue"/>
                <a:ea typeface="Helvetica Neue"/>
                <a:cs typeface="Helvetica Neue"/>
              </a:defRPr>
            </a:pPr>
            <a:r>
              <a:rPr sz="3000" b="1" i="0">
                <a:solidFill>
                  <a:srgbClr val="11867B"/>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EF0E3D3F-6BE9-4FCD-BFE6-560C4A3F586E}"/>
              </a:ext>
            </a:extLst>
          </p:cNvPr>
          <p:cNvSpPr>
            <a:spLocks xmlns:a="http://schemas.openxmlformats.org/drawingml/2006/main" noGrp="1"/>
          </p:cNvSpPr>
          <p:nvPr/>
        </p:nvSpPr>
        <p:spPr>
          <a:xfrm xmlns:a="http://schemas.openxmlformats.org/drawingml/2006/main">
            <a:off x="1200150" y="1933575"/>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2A42"/>
                </a:solidFill>
                <a:latin typeface="Helvetica Neue"/>
                <a:ea typeface="Helvetica Neue"/>
                <a:cs typeface="Helvetica Neue"/>
              </a:defRPr>
            </a:pPr>
            <a:r>
              <a:rPr sz="1725" b="1" i="0">
                <a:solidFill>
                  <a:srgbClr val="0B2A42"/>
                </a:solidFill>
                <a:latin typeface="Helvetica Neue"/>
                <a:ea typeface="Helvetica Neue"/>
                <a:cs typeface="Helvetica Neue"/>
              </a:rPr>
              <a:t>Bestellung TS-10482 fragen</a:t>
            </a:r>
          </a:p>
        </p:txBody>
      </p:sp>
      <p:sp>
        <p:nvSpPr>
          <p:cNvPr id="7" name="">
            <a:extLst xmlns:a="http://schemas.openxmlformats.org/drawingml/2006/main">
              <a:ext uri="{FF2B5EF4-FFF2-40B4-BE49-F238E27FC236}">
                <a16:creationId xmlns:a16="http://schemas.microsoft.com/office/drawing/2014/main" id="{ADFA1786-0890-4A08-B30A-9DCB6C4319B3}"/>
              </a:ext>
            </a:extLst>
          </p:cNvPr>
          <p:cNvSpPr>
            <a:spLocks xmlns:a="http://schemas.openxmlformats.org/drawingml/2006/main" noGrp="1"/>
          </p:cNvSpPr>
          <p:nvPr/>
        </p:nvSpPr>
        <p:spPr>
          <a:xfrm xmlns:a="http://schemas.openxmlformats.org/drawingml/2006/main">
            <a:off x="552450" y="2857500"/>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2D75B8"/>
                </a:solidFill>
                <a:latin typeface="Helvetica Neue"/>
                <a:ea typeface="Helvetica Neue"/>
                <a:cs typeface="Helvetica Neue"/>
              </a:defRPr>
            </a:pPr>
            <a:r>
              <a:rPr sz="3000" b="1" i="0">
                <a:solidFill>
                  <a:srgbClr val="2D75B8"/>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34E8DFA8-CA82-487F-9590-F3A11E78D72B}"/>
              </a:ext>
            </a:extLst>
          </p:cNvPr>
          <p:cNvSpPr>
            <a:spLocks xmlns:a="http://schemas.openxmlformats.org/drawingml/2006/main" noGrp="1"/>
          </p:cNvSpPr>
          <p:nvPr/>
        </p:nvSpPr>
        <p:spPr>
          <a:xfrm xmlns:a="http://schemas.openxmlformats.org/drawingml/2006/main">
            <a:off x="1200150" y="2905125"/>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2A42"/>
                </a:solidFill>
                <a:latin typeface="Helvetica Neue"/>
                <a:ea typeface="Helvetica Neue"/>
                <a:cs typeface="Helvetica Neue"/>
              </a:defRPr>
            </a:pPr>
            <a:r>
              <a:rPr sz="1725" b="1" i="0">
                <a:solidFill>
                  <a:srgbClr val="0B2A42"/>
                </a:solidFill>
                <a:latin typeface="Helvetica Neue"/>
                <a:ea typeface="Helvetica Neue"/>
                <a:cs typeface="Helvetica Neue"/>
              </a:rPr>
              <a:t>Streaming und KI-Label zeigen</a:t>
            </a:r>
          </a:p>
        </p:txBody>
      </p:sp>
      <p:sp>
        <p:nvSpPr>
          <p:cNvPr id="9" name="">
            <a:extLst xmlns:a="http://schemas.openxmlformats.org/drawingml/2006/main">
              <a:ext uri="{FF2B5EF4-FFF2-40B4-BE49-F238E27FC236}">
                <a16:creationId xmlns:a16="http://schemas.microsoft.com/office/drawing/2014/main" id="{3F0F7DE7-06ED-43B3-8B69-4D5CD0FD9C7E}"/>
              </a:ext>
            </a:extLst>
          </p:cNvPr>
          <p:cNvSpPr>
            <a:spLocks xmlns:a="http://schemas.openxmlformats.org/drawingml/2006/main" noGrp="1"/>
          </p:cNvSpPr>
          <p:nvPr/>
        </p:nvSpPr>
        <p:spPr>
          <a:xfrm xmlns:a="http://schemas.openxmlformats.org/drawingml/2006/main">
            <a:off x="552450" y="3829050"/>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A85A00"/>
                </a:solidFill>
                <a:latin typeface="Helvetica Neue"/>
                <a:ea typeface="Helvetica Neue"/>
                <a:cs typeface="Helvetica Neue"/>
              </a:defRPr>
            </a:pPr>
            <a:r>
              <a:rPr sz="3000" b="1" i="0">
                <a:solidFill>
                  <a:srgbClr val="A85A00"/>
                </a:solidFill>
                <a:latin typeface="Helvetica Neue"/>
                <a:ea typeface="Helvetica Neue"/>
                <a:cs typeface="Helvetica Neue"/>
              </a:rPr>
              <a:t>3</a:t>
            </a:r>
          </a:p>
        </p:txBody>
      </p:sp>
      <p:sp>
        <p:nvSpPr>
          <p:cNvPr id="10" name="">
            <a:extLst xmlns:a="http://schemas.openxmlformats.org/drawingml/2006/main">
              <a:ext uri="{FF2B5EF4-FFF2-40B4-BE49-F238E27FC236}">
                <a16:creationId xmlns:a16="http://schemas.microsoft.com/office/drawing/2014/main" id="{38AB745B-9233-4803-9FE6-91015A1B5823}"/>
              </a:ext>
            </a:extLst>
          </p:cNvPr>
          <p:cNvSpPr>
            <a:spLocks xmlns:a="http://schemas.openxmlformats.org/drawingml/2006/main" noGrp="1"/>
          </p:cNvSpPr>
          <p:nvPr/>
        </p:nvSpPr>
        <p:spPr>
          <a:xfrm xmlns:a="http://schemas.openxmlformats.org/drawingml/2006/main">
            <a:off x="1200150" y="3876675"/>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2A42"/>
                </a:solidFill>
                <a:latin typeface="Helvetica Neue"/>
                <a:ea typeface="Helvetica Neue"/>
                <a:cs typeface="Helvetica Neue"/>
              </a:defRPr>
            </a:pPr>
            <a:r>
              <a:rPr sz="1725" b="1" i="0">
                <a:solidFill>
                  <a:srgbClr val="0B2A42"/>
                </a:solidFill>
                <a:latin typeface="Helvetica Neue"/>
                <a:ea typeface="Helvetica Neue"/>
                <a:cs typeface="Helvetica Neue"/>
              </a:rPr>
              <a:t>TS-99999 an Support übergeben</a:t>
            </a:r>
          </a:p>
        </p:txBody>
      </p:sp>
      <p:sp>
        <p:nvSpPr>
          <p:cNvPr id="11" name="">
            <a:extLst xmlns:a="http://schemas.openxmlformats.org/drawingml/2006/main">
              <a:ext uri="{FF2B5EF4-FFF2-40B4-BE49-F238E27FC236}">
                <a16:creationId xmlns:a16="http://schemas.microsoft.com/office/drawing/2014/main" id="{52FCA807-7F2D-4691-AF84-F76EDC09239B}"/>
              </a:ext>
            </a:extLst>
          </p:cNvPr>
          <p:cNvSpPr>
            <a:spLocks xmlns:a="http://schemas.openxmlformats.org/drawingml/2006/main" noGrp="1"/>
          </p:cNvSpPr>
          <p:nvPr/>
        </p:nvSpPr>
        <p:spPr>
          <a:xfrm xmlns:a="http://schemas.openxmlformats.org/drawingml/2006/main">
            <a:off x="552450" y="4800600"/>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B42318"/>
                </a:solidFill>
                <a:latin typeface="Helvetica Neue"/>
                <a:ea typeface="Helvetica Neue"/>
                <a:cs typeface="Helvetica Neue"/>
              </a:defRPr>
            </a:pPr>
            <a:r>
              <a:rPr sz="3000" b="1" i="0">
                <a:solidFill>
                  <a:srgbClr val="B42318"/>
                </a:solidFill>
                <a:latin typeface="Helvetica Neue"/>
                <a:ea typeface="Helvetica Neue"/>
                <a:cs typeface="Helvetica Neue"/>
              </a:rPr>
              <a:t>4</a:t>
            </a:r>
          </a:p>
        </p:txBody>
      </p:sp>
      <p:sp>
        <p:nvSpPr>
          <p:cNvPr id="12" name="">
            <a:extLst xmlns:a="http://schemas.openxmlformats.org/drawingml/2006/main">
              <a:ext uri="{FF2B5EF4-FFF2-40B4-BE49-F238E27FC236}">
                <a16:creationId xmlns:a16="http://schemas.microsoft.com/office/drawing/2014/main" id="{A8140324-792D-44A5-9255-C002ACBF36E2}"/>
              </a:ext>
            </a:extLst>
          </p:cNvPr>
          <p:cNvSpPr>
            <a:spLocks xmlns:a="http://schemas.openxmlformats.org/drawingml/2006/main" noGrp="1"/>
          </p:cNvSpPr>
          <p:nvPr/>
        </p:nvSpPr>
        <p:spPr>
          <a:xfrm xmlns:a="http://schemas.openxmlformats.org/drawingml/2006/main">
            <a:off x="1200150" y="4848225"/>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0B2A42"/>
                </a:solidFill>
                <a:latin typeface="Helvetica Neue"/>
                <a:ea typeface="Helvetica Neue"/>
                <a:cs typeface="Helvetica Neue"/>
              </a:defRPr>
            </a:pPr>
            <a:r>
              <a:rPr sz="1725" b="1" i="0">
                <a:solidFill>
                  <a:srgbClr val="0B2A42"/>
                </a:solidFill>
                <a:latin typeface="Helvetica Neue"/>
                <a:ea typeface="Helvetica Neue"/>
                <a:cs typeface="Helvetica Neue"/>
              </a:rPr>
              <a:t>Demo-Timeout auslösen und Retry nutzen</a:t>
            </a:r>
          </a:p>
        </p:txBody>
      </p:sp>
      <p:sp>
        <p:nvSpPr>
          <p:cNvPr id="13" name="">
            <a:extLst xmlns:a="http://schemas.openxmlformats.org/drawingml/2006/main">
              <a:ext uri="{FF2B5EF4-FFF2-40B4-BE49-F238E27FC236}">
                <a16:creationId xmlns:a16="http://schemas.microsoft.com/office/drawing/2014/main" id="{50ED71C8-6076-44B9-B01F-18A408B55FFD}"/>
              </a:ext>
            </a:extLst>
          </p:cNvPr>
          <p:cNvSpPr>
            <a:spLocks xmlns:a="http://schemas.openxmlformats.org/drawingml/2006/main" noGrp="1"/>
          </p:cNvSpPr>
          <p:nvPr/>
        </p:nvSpPr>
        <p:spPr>
          <a:xfrm xmlns:a="http://schemas.openxmlformats.org/drawingml/2006/main">
            <a:off x="5962650" y="1790700"/>
            <a:ext cx="5467350" cy="3105150"/>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b9ad16847f549af"/>
          <a:stretch xmlns:a="http://schemas.openxmlformats.org/drawingml/2006/main"/>
        </p:blipFill>
        <p:spPr>
          <a:xfrm xmlns:a="http://schemas.openxmlformats.org/drawingml/2006/main">
            <a:off x="6395857" y="1828800"/>
            <a:ext cx="4600937" cy="3028950"/>
          </a:xfrm>
          <a:prstGeom xmlns:a="http://schemas.openxmlformats.org/drawingml/2006/main" prst="roundRect">
            <a:avLst>
              <a:gd name="adj" fmla="val 2516"/>
            </a:avLst>
          </a:prstGeom>
        </p:spPr>
      </p:pic>
      <p:sp>
        <p:nvSpPr>
          <p:cNvPr id="15" name="">
            <a:extLst xmlns:a="http://schemas.openxmlformats.org/drawingml/2006/main">
              <a:ext uri="{FF2B5EF4-FFF2-40B4-BE49-F238E27FC236}">
                <a16:creationId xmlns:a16="http://schemas.microsoft.com/office/drawing/2014/main" id="{252E9A24-15A3-4CF6-A0FE-8AAC8F2D9A5F}"/>
              </a:ext>
            </a:extLst>
          </p:cNvPr>
          <p:cNvSpPr>
            <a:spLocks xmlns:a="http://schemas.openxmlformats.org/drawingml/2006/main" noGrp="1"/>
          </p:cNvSpPr>
          <p:nvPr/>
        </p:nvSpPr>
        <p:spPr>
          <a:xfrm xmlns:a="http://schemas.openxmlformats.org/drawingml/2006/main">
            <a:off x="6000750" y="5238750"/>
            <a:ext cx="5391150" cy="742950"/>
          </a:xfrm>
          <a:prstGeom xmlns:a="http://schemas.openxmlformats.org/drawingml/2006/main" prst="roundRect">
            <a:avLst>
              <a:gd name="adj" fmla="val 15385"/>
            </a:avLst>
          </a:prstGeom>
          <a:solidFill xmlns:a="http://schemas.openxmlformats.org/drawingml/2006/main">
            <a:srgbClr val="FFF3D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756C801-37CC-4171-A74D-7503F8502EFE}"/>
              </a:ext>
            </a:extLst>
          </p:cNvPr>
          <p:cNvSpPr>
            <a:spLocks xmlns:a="http://schemas.openxmlformats.org/drawingml/2006/main" noGrp="1"/>
          </p:cNvSpPr>
          <p:nvPr/>
        </p:nvSpPr>
        <p:spPr>
          <a:xfrm xmlns:a="http://schemas.openxmlformats.org/drawingml/2006/main">
            <a:off x="6238875" y="5467350"/>
            <a:ext cx="491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853"/>
          </a:bodyPr>
          <a:lstStyle xmlns:a="http://schemas.openxmlformats.org/drawingml/2006/main"/>
          <a:p xmlns:a="http://schemas.openxmlformats.org/drawingml/2006/main">
            <a:pPr algn="ctr">
              <a:defRPr sz="1350" b="1" i="0">
                <a:solidFill>
                  <a:srgbClr val="A85A00"/>
                </a:solidFill>
                <a:latin typeface="Helvetica Neue"/>
                <a:ea typeface="Helvetica Neue"/>
                <a:cs typeface="Helvetica Neue"/>
              </a:defRPr>
            </a:pPr>
            <a:r>
              <a:rPr sz="1350" b="1" i="0">
                <a:solidFill>
                  <a:srgbClr val="A85A00"/>
                </a:solidFill>
                <a:latin typeface="Helvetica Neue"/>
                <a:ea typeface="Helvetica Neue"/>
                <a:cs typeface="Helvetica Neue"/>
              </a:rPr>
              <a:t>Testdaten sind fiktiv; keine Passwörter oder Zahlungsdaten eingeben.</a:t>
            </a:r>
          </a:p>
        </p:txBody>
      </p:sp>
    </p:spTree>
    <p:extLst>
      <p:ext uri="{BB962C8B-B14F-4D97-AF65-F5344CB8AC3E}">
        <p14:creationId xmlns:p14="http://schemas.microsoft.com/office/powerpoint/2010/main" val="2021958447"/>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8D40C46-1C66-411A-9FD1-86C22C7B9416}"/>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A82F804D-69D5-4D4F-BFBC-A34046DCDDC0}"/>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Architektur: schlank, lokal und nachvollziehbar</a:t>
            </a:r>
          </a:p>
        </p:txBody>
      </p:sp>
      <p:sp>
        <p:nvSpPr>
          <p:cNvPr id="3" name="">
            <a:extLst xmlns:a="http://schemas.openxmlformats.org/drawingml/2006/main">
              <a:ext uri="{FF2B5EF4-FFF2-40B4-BE49-F238E27FC236}">
                <a16:creationId xmlns:a16="http://schemas.microsoft.com/office/drawing/2014/main" id="{E5D4D9A6-6C7E-4D69-96EB-D4598FB4068A}"/>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2528AB-3A26-433C-A577-A0A8289A2E98}"/>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44A6E6F3-FEC6-4F89-963C-F1A5C07995AB}"/>
              </a:ext>
            </a:extLst>
          </p:cNvPr>
          <p:cNvSpPr>
            <a:spLocks xmlns:a="http://schemas.openxmlformats.org/drawingml/2006/main" noGrp="1"/>
          </p:cNvSpPr>
          <p:nvPr/>
        </p:nvSpPr>
        <p:spPr>
          <a:xfrm xmlns:a="http://schemas.openxmlformats.org/drawingml/2006/main">
            <a:off x="552450" y="1838325"/>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2D75B8"/>
                </a:solidFill>
                <a:latin typeface="Helvetica Neue"/>
                <a:ea typeface="Helvetica Neue"/>
                <a:cs typeface="Helvetica Neue"/>
              </a:defRPr>
            </a:pPr>
            <a:r>
              <a:rPr sz="1500" b="1" i="0">
                <a:solidFill>
                  <a:srgbClr val="2D75B8"/>
                </a:solidFill>
                <a:latin typeface="Helvetica Neue"/>
                <a:ea typeface="Helvetica Neue"/>
                <a:cs typeface="Helvetica Neue"/>
              </a:rPr>
              <a:t>RAZOR UI</a:t>
            </a:r>
          </a:p>
        </p:txBody>
      </p:sp>
      <p:sp>
        <p:nvSpPr>
          <p:cNvPr id="6" name="">
            <a:extLst xmlns:a="http://schemas.openxmlformats.org/drawingml/2006/main">
              <a:ext uri="{FF2B5EF4-FFF2-40B4-BE49-F238E27FC236}">
                <a16:creationId xmlns:a16="http://schemas.microsoft.com/office/drawing/2014/main" id="{345976AA-1D20-4845-9798-91AE0AFDB510}"/>
              </a:ext>
            </a:extLst>
          </p:cNvPr>
          <p:cNvSpPr>
            <a:spLocks xmlns:a="http://schemas.openxmlformats.org/drawingml/2006/main" noGrp="1"/>
          </p:cNvSpPr>
          <p:nvPr/>
        </p:nvSpPr>
        <p:spPr>
          <a:xfrm xmlns:a="http://schemas.openxmlformats.org/drawingml/2006/main">
            <a:off x="2457450" y="1838325"/>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0B2A42"/>
                </a:solidFill>
                <a:latin typeface="Helvetica Neue"/>
                <a:ea typeface="Helvetica Neue"/>
                <a:cs typeface="Helvetica Neue"/>
              </a:defRPr>
            </a:pPr>
            <a:r>
              <a:rPr sz="1650" b="1" i="0">
                <a:solidFill>
                  <a:srgbClr val="0B2A42"/>
                </a:solidFill>
                <a:latin typeface="Helvetica Neue"/>
                <a:ea typeface="Helvetica Neue"/>
                <a:cs typeface="Helvetica Neue"/>
              </a:rPr>
              <a:t>Chat · Verlauf · Eskalation · Feedback · Einstellungen</a:t>
            </a:r>
          </a:p>
        </p:txBody>
      </p:sp>
      <p:sp>
        <p:nvSpPr>
          <p:cNvPr id="7" name="">
            <a:extLst xmlns:a="http://schemas.openxmlformats.org/drawingml/2006/main">
              <a:ext uri="{FF2B5EF4-FFF2-40B4-BE49-F238E27FC236}">
                <a16:creationId xmlns:a16="http://schemas.microsoft.com/office/drawing/2014/main" id="{6193E122-D29E-4941-946B-E1E392ED9A7E}"/>
              </a:ext>
            </a:extLst>
          </p:cNvPr>
          <p:cNvSpPr>
            <a:spLocks xmlns:a="http://schemas.openxmlformats.org/drawingml/2006/main" noGrp="1"/>
          </p:cNvSpPr>
          <p:nvPr/>
        </p:nvSpPr>
        <p:spPr>
          <a:xfrm xmlns:a="http://schemas.openxmlformats.org/drawingml/2006/main">
            <a:off x="552450" y="2314575"/>
            <a:ext cx="733425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5B7022D-5192-4DA1-B3F6-568D671A17E5}"/>
              </a:ext>
            </a:extLst>
          </p:cNvPr>
          <p:cNvSpPr>
            <a:spLocks xmlns:a="http://schemas.openxmlformats.org/drawingml/2006/main" noGrp="1"/>
          </p:cNvSpPr>
          <p:nvPr/>
        </p:nvSpPr>
        <p:spPr>
          <a:xfrm xmlns:a="http://schemas.openxmlformats.org/drawingml/2006/main">
            <a:off x="552450" y="25717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1867B"/>
                </a:solidFill>
                <a:latin typeface="Helvetica Neue"/>
                <a:ea typeface="Helvetica Neue"/>
                <a:cs typeface="Helvetica Neue"/>
              </a:defRPr>
            </a:pPr>
            <a:r>
              <a:rPr sz="1500" b="1" i="0">
                <a:solidFill>
                  <a:srgbClr val="11867B"/>
                </a:solidFill>
                <a:latin typeface="Helvetica Neue"/>
                <a:ea typeface="Helvetica Neue"/>
                <a:cs typeface="Helvetica Neue"/>
              </a:rPr>
              <a:t>SERVICES</a:t>
            </a:r>
          </a:p>
        </p:txBody>
      </p:sp>
      <p:sp>
        <p:nvSpPr>
          <p:cNvPr id="9" name="">
            <a:extLst xmlns:a="http://schemas.openxmlformats.org/drawingml/2006/main">
              <a:ext uri="{FF2B5EF4-FFF2-40B4-BE49-F238E27FC236}">
                <a16:creationId xmlns:a16="http://schemas.microsoft.com/office/drawing/2014/main" id="{5BAD6ED2-C170-4632-8F70-C3B5C9D4E153}"/>
              </a:ext>
            </a:extLst>
          </p:cNvPr>
          <p:cNvSpPr>
            <a:spLocks xmlns:a="http://schemas.openxmlformats.org/drawingml/2006/main" noGrp="1"/>
          </p:cNvSpPr>
          <p:nvPr/>
        </p:nvSpPr>
        <p:spPr>
          <a:xfrm xmlns:a="http://schemas.openxmlformats.org/drawingml/2006/main">
            <a:off x="2457450" y="257175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0B2A42"/>
                </a:solidFill>
                <a:latin typeface="Helvetica Neue"/>
                <a:ea typeface="Helvetica Neue"/>
                <a:cs typeface="Helvetica Neue"/>
              </a:defRPr>
            </a:pPr>
            <a:r>
              <a:rPr sz="1650" b="1" i="0">
                <a:solidFill>
                  <a:srgbClr val="0B2A42"/>
                </a:solidFill>
                <a:latin typeface="Helvetica Neue"/>
                <a:ea typeface="Helvetica Neue"/>
                <a:cs typeface="Helvetica Neue"/>
              </a:rPr>
              <a:t>GeminiChatService · JsonAppDataStore</a:t>
            </a:r>
          </a:p>
        </p:txBody>
      </p:sp>
      <p:sp>
        <p:nvSpPr>
          <p:cNvPr id="10" name="">
            <a:extLst xmlns:a="http://schemas.openxmlformats.org/drawingml/2006/main">
              <a:ext uri="{FF2B5EF4-FFF2-40B4-BE49-F238E27FC236}">
                <a16:creationId xmlns:a16="http://schemas.microsoft.com/office/drawing/2014/main" id="{226DB064-6FC5-40D6-A93B-FE2A72C7F630}"/>
              </a:ext>
            </a:extLst>
          </p:cNvPr>
          <p:cNvSpPr>
            <a:spLocks xmlns:a="http://schemas.openxmlformats.org/drawingml/2006/main" noGrp="1"/>
          </p:cNvSpPr>
          <p:nvPr/>
        </p:nvSpPr>
        <p:spPr>
          <a:xfrm xmlns:a="http://schemas.openxmlformats.org/drawingml/2006/main">
            <a:off x="552450" y="3048000"/>
            <a:ext cx="733425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0AD44BE-3479-483D-8AE8-401D99EA8C9D}"/>
              </a:ext>
            </a:extLst>
          </p:cNvPr>
          <p:cNvSpPr>
            <a:spLocks xmlns:a="http://schemas.openxmlformats.org/drawingml/2006/main" noGrp="1"/>
          </p:cNvSpPr>
          <p:nvPr/>
        </p:nvSpPr>
        <p:spPr>
          <a:xfrm xmlns:a="http://schemas.openxmlformats.org/drawingml/2006/main">
            <a:off x="552450" y="3305175"/>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A85A00"/>
                </a:solidFill>
                <a:latin typeface="Helvetica Neue"/>
                <a:ea typeface="Helvetica Neue"/>
                <a:cs typeface="Helvetica Neue"/>
              </a:defRPr>
            </a:pPr>
            <a:r>
              <a:rPr sz="1500" b="1" i="0">
                <a:solidFill>
                  <a:srgbClr val="A85A00"/>
                </a:solidFill>
                <a:latin typeface="Helvetica Neue"/>
                <a:ea typeface="Helvetica Neue"/>
                <a:cs typeface="Helvetica Neue"/>
              </a:rPr>
              <a:t>MODELLE</a:t>
            </a:r>
          </a:p>
        </p:txBody>
      </p:sp>
      <p:sp>
        <p:nvSpPr>
          <p:cNvPr id="12" name="">
            <a:extLst xmlns:a="http://schemas.openxmlformats.org/drawingml/2006/main">
              <a:ext uri="{FF2B5EF4-FFF2-40B4-BE49-F238E27FC236}">
                <a16:creationId xmlns:a16="http://schemas.microsoft.com/office/drawing/2014/main" id="{78FF1CEE-2F43-41C5-885A-F6E82DCAAD39}"/>
              </a:ext>
            </a:extLst>
          </p:cNvPr>
          <p:cNvSpPr>
            <a:spLocks xmlns:a="http://schemas.openxmlformats.org/drawingml/2006/main" noGrp="1"/>
          </p:cNvSpPr>
          <p:nvPr/>
        </p:nvSpPr>
        <p:spPr>
          <a:xfrm xmlns:a="http://schemas.openxmlformats.org/drawingml/2006/main">
            <a:off x="2457450" y="3305175"/>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0B2A42"/>
                </a:solidFill>
                <a:latin typeface="Helvetica Neue"/>
                <a:ea typeface="Helvetica Neue"/>
                <a:cs typeface="Helvetica Neue"/>
              </a:defRPr>
            </a:pPr>
            <a:r>
              <a:rPr sz="1650" b="1" i="0">
                <a:solidFill>
                  <a:srgbClr val="0B2A42"/>
                </a:solidFill>
                <a:latin typeface="Helvetica Neue"/>
                <a:ea typeface="Helvetica Neue"/>
                <a:cs typeface="Helvetica Neue"/>
              </a:rPr>
              <a:t>Conversation · ChatMessage · Feedback · Eskalation</a:t>
            </a:r>
          </a:p>
        </p:txBody>
      </p:sp>
      <p:sp>
        <p:nvSpPr>
          <p:cNvPr id="13" name="">
            <a:extLst xmlns:a="http://schemas.openxmlformats.org/drawingml/2006/main">
              <a:ext uri="{FF2B5EF4-FFF2-40B4-BE49-F238E27FC236}">
                <a16:creationId xmlns:a16="http://schemas.microsoft.com/office/drawing/2014/main" id="{D0C76763-7A31-4C69-977F-81F6021C4394}"/>
              </a:ext>
            </a:extLst>
          </p:cNvPr>
          <p:cNvSpPr>
            <a:spLocks xmlns:a="http://schemas.openxmlformats.org/drawingml/2006/main" noGrp="1"/>
          </p:cNvSpPr>
          <p:nvPr/>
        </p:nvSpPr>
        <p:spPr>
          <a:xfrm xmlns:a="http://schemas.openxmlformats.org/drawingml/2006/main">
            <a:off x="552450" y="3781425"/>
            <a:ext cx="733425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AE21505-64EB-4A26-B2F2-88364E7BD8E5}"/>
              </a:ext>
            </a:extLst>
          </p:cNvPr>
          <p:cNvSpPr>
            <a:spLocks xmlns:a="http://schemas.openxmlformats.org/drawingml/2006/main" noGrp="1"/>
          </p:cNvSpPr>
          <p:nvPr/>
        </p:nvSpPr>
        <p:spPr>
          <a:xfrm xmlns:a="http://schemas.openxmlformats.org/drawingml/2006/main">
            <a:off x="552450" y="40386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B42318"/>
                </a:solidFill>
                <a:latin typeface="Helvetica Neue"/>
                <a:ea typeface="Helvetica Neue"/>
                <a:cs typeface="Helvetica Neue"/>
              </a:defRPr>
            </a:pPr>
            <a:r>
              <a:rPr sz="1500" b="1" i="0">
                <a:solidFill>
                  <a:srgbClr val="B42318"/>
                </a:solidFill>
                <a:latin typeface="Helvetica Neue"/>
                <a:ea typeface="Helvetica Neue"/>
                <a:cs typeface="Helvetica Neue"/>
              </a:rPr>
              <a:t>BROWSER</a:t>
            </a:r>
          </a:p>
        </p:txBody>
      </p:sp>
      <p:sp>
        <p:nvSpPr>
          <p:cNvPr id="15" name="">
            <a:extLst xmlns:a="http://schemas.openxmlformats.org/drawingml/2006/main">
              <a:ext uri="{FF2B5EF4-FFF2-40B4-BE49-F238E27FC236}">
                <a16:creationId xmlns:a16="http://schemas.microsoft.com/office/drawing/2014/main" id="{B166ABA6-AF0B-4846-8B98-402609B632C9}"/>
              </a:ext>
            </a:extLst>
          </p:cNvPr>
          <p:cNvSpPr>
            <a:spLocks xmlns:a="http://schemas.openxmlformats.org/drawingml/2006/main" noGrp="1"/>
          </p:cNvSpPr>
          <p:nvPr/>
        </p:nvSpPr>
        <p:spPr>
          <a:xfrm xmlns:a="http://schemas.openxmlformats.org/drawingml/2006/main">
            <a:off x="2457450" y="40386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0B2A42"/>
                </a:solidFill>
                <a:latin typeface="Helvetica Neue"/>
                <a:ea typeface="Helvetica Neue"/>
                <a:cs typeface="Helvetica Neue"/>
              </a:defRPr>
            </a:pPr>
            <a:r>
              <a:rPr sz="1650" b="1" i="0">
                <a:solidFill>
                  <a:srgbClr val="0B2A42"/>
                </a:solidFill>
                <a:latin typeface="Helvetica Neue"/>
                <a:ea typeface="Helvetica Neue"/>
                <a:cs typeface="Helvetica Neue"/>
              </a:rPr>
              <a:t>Speech Recognition · Speech Synthesis · Fokus</a:t>
            </a:r>
          </a:p>
        </p:txBody>
      </p:sp>
      <p:sp>
        <p:nvSpPr>
          <p:cNvPr id="16" name="">
            <a:extLst xmlns:a="http://schemas.openxmlformats.org/drawingml/2006/main">
              <a:ext uri="{FF2B5EF4-FFF2-40B4-BE49-F238E27FC236}">
                <a16:creationId xmlns:a16="http://schemas.microsoft.com/office/drawing/2014/main" id="{1F3455D4-B52E-42A6-B4B0-60611476B8F9}"/>
              </a:ext>
            </a:extLst>
          </p:cNvPr>
          <p:cNvSpPr>
            <a:spLocks xmlns:a="http://schemas.openxmlformats.org/drawingml/2006/main" noGrp="1"/>
          </p:cNvSpPr>
          <p:nvPr/>
        </p:nvSpPr>
        <p:spPr>
          <a:xfrm xmlns:a="http://schemas.openxmlformats.org/drawingml/2006/main">
            <a:off x="8458200" y="1790700"/>
            <a:ext cx="3219450" cy="3324225"/>
          </a:xfrm>
          <a:prstGeom xmlns:a="http://schemas.openxmlformats.org/drawingml/2006/main" prst="roundRect">
            <a:avLst>
              <a:gd name="adj" fmla="val 3550"/>
            </a:avLst>
          </a:prstGeom>
          <a:solidFill xmlns:a="http://schemas.openxmlformats.org/drawingml/2006/main">
            <a:srgbClr val="0B2A4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E547BE6-F799-4382-AFF5-B5AB01D21F80}"/>
              </a:ext>
            </a:extLst>
          </p:cNvPr>
          <p:cNvSpPr>
            <a:spLocks xmlns:a="http://schemas.openxmlformats.org/drawingml/2006/main" noGrp="1"/>
          </p:cNvSpPr>
          <p:nvPr/>
        </p:nvSpPr>
        <p:spPr>
          <a:xfrm xmlns:a="http://schemas.openxmlformats.org/drawingml/2006/main">
            <a:off x="8782050" y="212407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i="0">
                <a:solidFill>
                  <a:srgbClr val="FFFFFF"/>
                </a:solidFill>
                <a:latin typeface="Helvetica Neue"/>
                <a:ea typeface="Helvetica Neue"/>
                <a:cs typeface="Helvetica Neue"/>
              </a:defRPr>
            </a:pPr>
            <a:r>
              <a:rPr sz="2625" b="1" i="0">
                <a:solidFill>
                  <a:srgbClr val="FFFFFF"/>
                </a:solidFill>
                <a:latin typeface="Helvetica Neue"/>
                <a:ea typeface="Helvetica Neue"/>
                <a:cs typeface="Helvetica Neue"/>
              </a:rPr>
              <a:t>.NET 8</a:t>
            </a:r>
          </a:p>
        </p:txBody>
      </p:sp>
      <p:sp>
        <p:nvSpPr>
          <p:cNvPr id="18" name="">
            <a:extLst xmlns:a="http://schemas.openxmlformats.org/drawingml/2006/main">
              <a:ext uri="{FF2B5EF4-FFF2-40B4-BE49-F238E27FC236}">
                <a16:creationId xmlns:a16="http://schemas.microsoft.com/office/drawing/2014/main" id="{F3F1E1C5-81A9-4822-9EF6-D54A850298DB}"/>
              </a:ext>
            </a:extLst>
          </p:cNvPr>
          <p:cNvSpPr>
            <a:spLocks xmlns:a="http://schemas.openxmlformats.org/drawingml/2006/main" noGrp="1"/>
          </p:cNvSpPr>
          <p:nvPr/>
        </p:nvSpPr>
        <p:spPr>
          <a:xfrm xmlns:a="http://schemas.openxmlformats.org/drawingml/2006/main">
            <a:off x="8782050" y="2819400"/>
            <a:ext cx="245745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i="0">
                <a:solidFill>
                  <a:srgbClr val="D8E5EE"/>
                </a:solidFill>
                <a:latin typeface="Helvetica Neue"/>
                <a:ea typeface="Helvetica Neue"/>
                <a:cs typeface="Helvetica Neue"/>
              </a:defRPr>
            </a:pPr>
            <a:r>
              <a:rPr sz="1725" b="0" i="0">
                <a:solidFill>
                  <a:srgbClr val="D8E5EE"/>
                </a:solidFill>
                <a:latin typeface="Helvetica Neue"/>
                <a:ea typeface="Helvetica Neue"/>
                <a:cs typeface="Helvetica Neue"/>
              </a:rPr>
              <a:t>Blazor Interactive Server</a:t>
            </a:r>
          </a:p>
          <a:p xmlns:a="http://schemas.openxmlformats.org/drawingml/2006/main">
            <a:pPr algn="l">
              <a:defRPr sz="1725" b="0" i="0">
                <a:solidFill>
                  <a:srgbClr val="D8E5EE"/>
                </a:solidFill>
                <a:latin typeface="Helvetica Neue"/>
                <a:ea typeface="Helvetica Neue"/>
                <a:cs typeface="Helvetica Neue"/>
              </a:defRPr>
            </a:pPr>
            <a:r>
              <a:rPr sz="1725" b="0" i="0">
                <a:solidFill>
                  <a:srgbClr val="D8E5EE"/>
                </a:solidFill>
                <a:latin typeface="Helvetica Neue"/>
                <a:ea typeface="Helvetica Neue"/>
                <a:cs typeface="Helvetica Neue"/>
              </a:rPr>
              <a:t>Gemini 2.5 Flash</a:t>
            </a:r>
          </a:p>
          <a:p xmlns:a="http://schemas.openxmlformats.org/drawingml/2006/main">
            <a:pPr algn="l">
              <a:defRPr sz="1725" b="0" i="0">
                <a:solidFill>
                  <a:srgbClr val="D8E5EE"/>
                </a:solidFill>
                <a:latin typeface="Helvetica Neue"/>
                <a:ea typeface="Helvetica Neue"/>
                <a:cs typeface="Helvetica Neue"/>
              </a:defRPr>
            </a:pPr>
            <a:r>
              <a:rPr sz="1725" b="0" i="0">
                <a:solidFill>
                  <a:srgbClr val="D8E5EE"/>
                </a:solidFill>
                <a:latin typeface="Helvetica Neue"/>
                <a:ea typeface="Helvetica Neue"/>
                <a:cs typeface="Helvetica Neue"/>
              </a:rPr>
              <a:t>Google.GenAI 1.18.0</a:t>
            </a:r>
          </a:p>
          <a:p xmlns:a="http://schemas.openxmlformats.org/drawingml/2006/main">
            <a:pPr algn="l">
              <a:defRPr sz="1725" b="0" i="0">
                <a:solidFill>
                  <a:srgbClr val="D8E5EE"/>
                </a:solidFill>
                <a:latin typeface="Helvetica Neue"/>
                <a:ea typeface="Helvetica Neue"/>
                <a:cs typeface="Helvetica Neue"/>
              </a:defRPr>
            </a:pPr>
            <a:r>
              <a:rPr sz="1725" b="0" i="0">
                <a:solidFill>
                  <a:srgbClr val="D8E5EE"/>
                </a:solidFill>
                <a:latin typeface="Helvetica Neue"/>
                <a:ea typeface="Helvetica Neue"/>
                <a:cs typeface="Helvetica Neue"/>
              </a:rPr>
              <a:t>JSON-Dateien</a:t>
            </a:r>
          </a:p>
          <a:p xmlns:a="http://schemas.openxmlformats.org/drawingml/2006/main">
            <a:pPr algn="l">
              <a:defRPr sz="1725" b="0" i="0">
                <a:solidFill>
                  <a:srgbClr val="D8E5EE"/>
                </a:solidFill>
                <a:latin typeface="Helvetica Neue"/>
                <a:ea typeface="Helvetica Neue"/>
                <a:cs typeface="Helvetica Neue"/>
              </a:defRPr>
            </a:pPr>
            <a:r>
              <a:rPr sz="1725" b="0" i="0">
                <a:solidFill>
                  <a:srgbClr val="D8E5EE"/>
                </a:solidFill>
                <a:latin typeface="Helvetica Neue"/>
                <a:ea typeface="Helvetica Neue"/>
                <a:cs typeface="Helvetica Neue"/>
              </a:rPr>
              <a:t>User Secrets</a:t>
            </a:r>
          </a:p>
        </p:txBody>
      </p:sp>
      <p:sp>
        <p:nvSpPr>
          <p:cNvPr id="19" name="">
            <a:extLst xmlns:a="http://schemas.openxmlformats.org/drawingml/2006/main">
              <a:ext uri="{FF2B5EF4-FFF2-40B4-BE49-F238E27FC236}">
                <a16:creationId xmlns:a16="http://schemas.microsoft.com/office/drawing/2014/main" id="{68B3DE73-21C7-48BF-9C91-3B07E1E028E3}"/>
              </a:ext>
            </a:extLst>
          </p:cNvPr>
          <p:cNvSpPr>
            <a:spLocks xmlns:a="http://schemas.openxmlformats.org/drawingml/2006/main" noGrp="1"/>
          </p:cNvSpPr>
          <p:nvPr/>
        </p:nvSpPr>
        <p:spPr>
          <a:xfrm xmlns:a="http://schemas.openxmlformats.org/drawingml/2006/main">
            <a:off x="552450" y="5562600"/>
            <a:ext cx="723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57347"/>
                </a:solidFill>
                <a:latin typeface="Helvetica Neue"/>
                <a:ea typeface="Helvetica Neue"/>
                <a:cs typeface="Helvetica Neue"/>
              </a:defRPr>
            </a:pPr>
            <a:r>
              <a:rPr sz="1725" b="1" i="0">
                <a:solidFill>
                  <a:srgbClr val="157347"/>
                </a:solidFill>
                <a:latin typeface="Helvetica Neue"/>
                <a:ea typeface="Helvetica Neue"/>
                <a:cs typeface="Helvetica Neue"/>
              </a:rPr>
              <a:t>API-Key und Laufzeitdaten werden nicht committet.</a:t>
            </a:r>
          </a:p>
        </p:txBody>
      </p:sp>
    </p:spTree>
    <p:extLst>
      <p:ext uri="{BB962C8B-B14F-4D97-AF65-F5344CB8AC3E}">
        <p14:creationId xmlns:p14="http://schemas.microsoft.com/office/powerpoint/2010/main" val="17433473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75E6BD-155F-4157-AC61-94200D225E31}"/>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14FA6A14-3D93-4E6F-945F-3A0CF0532015}"/>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Kritische Komponente: Streaming bleibt kontrollierbar</a:t>
            </a:r>
          </a:p>
        </p:txBody>
      </p:sp>
      <p:sp>
        <p:nvSpPr>
          <p:cNvPr id="3" name="">
            <a:extLst xmlns:a="http://schemas.openxmlformats.org/drawingml/2006/main">
              <a:ext uri="{FF2B5EF4-FFF2-40B4-BE49-F238E27FC236}">
                <a16:creationId xmlns:a16="http://schemas.microsoft.com/office/drawing/2014/main" id="{8CCC67EC-5EE3-4585-808D-E84A6A7E1AE2}"/>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787004-E915-4544-B2CB-D105EA6E491C}"/>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1EC1772-D90B-459D-96D6-87618800DF67}"/>
              </a:ext>
            </a:extLst>
          </p:cNvPr>
          <p:cNvSpPr>
            <a:spLocks xmlns:a="http://schemas.openxmlformats.org/drawingml/2006/main" noGrp="1"/>
          </p:cNvSpPr>
          <p:nvPr/>
        </p:nvSpPr>
        <p:spPr>
          <a:xfrm xmlns:a="http://schemas.openxmlformats.org/drawingml/2006/main">
            <a:off x="6343650" y="1752600"/>
            <a:ext cx="5219700" cy="2971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ff91757bded4cc7"/>
          <a:stretch xmlns:a="http://schemas.openxmlformats.org/drawingml/2006/main"/>
        </p:blipFill>
        <p:spPr>
          <a:xfrm xmlns:a="http://schemas.openxmlformats.org/drawingml/2006/main">
            <a:off x="6754310" y="1790700"/>
            <a:ext cx="4398380" cy="2895600"/>
          </a:xfrm>
          <a:prstGeom xmlns:a="http://schemas.openxmlformats.org/drawingml/2006/main" prst="roundRect">
            <a:avLst>
              <a:gd name="adj" fmla="val 2632"/>
            </a:avLst>
          </a:prstGeom>
        </p:spPr>
      </p:pic>
      <p:sp>
        <p:nvSpPr>
          <p:cNvPr id="7" name="">
            <a:extLst xmlns:a="http://schemas.openxmlformats.org/drawingml/2006/main">
              <a:ext uri="{FF2B5EF4-FFF2-40B4-BE49-F238E27FC236}">
                <a16:creationId xmlns:a16="http://schemas.microsoft.com/office/drawing/2014/main" id="{1B33A6E0-A9D7-404C-9DBE-899122DC0374}"/>
              </a:ext>
            </a:extLst>
          </p:cNvPr>
          <p:cNvSpPr>
            <a:spLocks xmlns:a="http://schemas.openxmlformats.org/drawingml/2006/main" noGrp="1"/>
          </p:cNvSpPr>
          <p:nvPr/>
        </p:nvSpPr>
        <p:spPr>
          <a:xfrm xmlns:a="http://schemas.openxmlformats.org/drawingml/2006/main">
            <a:off x="552450" y="1866900"/>
            <a:ext cx="52197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1  Nutzertext zuerst speichern</a:t>
            </a:r>
          </a:p>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2  leere KI-Nachricht mit Streaming-Status</a:t>
            </a:r>
          </a:p>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3  Textteile laufend anhängen</a:t>
            </a:r>
          </a:p>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4  Timeout und Abbruch separat behandeln</a:t>
            </a:r>
          </a:p>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5  Zustand immer sauber abschliessen</a:t>
            </a:r>
          </a:p>
        </p:txBody>
      </p:sp>
      <p:sp>
        <p:nvSpPr>
          <p:cNvPr id="8" name="">
            <a:extLst xmlns:a="http://schemas.openxmlformats.org/drawingml/2006/main">
              <a:ext uri="{FF2B5EF4-FFF2-40B4-BE49-F238E27FC236}">
                <a16:creationId xmlns:a16="http://schemas.microsoft.com/office/drawing/2014/main" id="{4D674934-0502-480F-996C-33E56BDBE3F1}"/>
              </a:ext>
            </a:extLst>
          </p:cNvPr>
          <p:cNvSpPr>
            <a:spLocks xmlns:a="http://schemas.openxmlformats.org/drawingml/2006/main" noGrp="1"/>
          </p:cNvSpPr>
          <p:nvPr/>
        </p:nvSpPr>
        <p:spPr>
          <a:xfrm xmlns:a="http://schemas.openxmlformats.org/drawingml/2006/main">
            <a:off x="552450" y="4953000"/>
            <a:ext cx="10972800" cy="952500"/>
          </a:xfrm>
          <a:prstGeom xmlns:a="http://schemas.openxmlformats.org/drawingml/2006/main" prst="roundRect">
            <a:avLst>
              <a:gd name="adj" fmla="val 12000"/>
            </a:avLst>
          </a:prstGeom>
          <a:solidFill xmlns:a="http://schemas.openxmlformats.org/drawingml/2006/main">
            <a:srgbClr val="DFF6E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1A3A381-3BF9-490E-B6E6-0C353B5C8602}"/>
              </a:ext>
            </a:extLst>
          </p:cNvPr>
          <p:cNvSpPr>
            <a:spLocks xmlns:a="http://schemas.openxmlformats.org/drawingml/2006/main" noGrp="1"/>
          </p:cNvSpPr>
          <p:nvPr/>
        </p:nvSpPr>
        <p:spPr>
          <a:xfrm xmlns:a="http://schemas.openxmlformats.org/drawingml/2006/main">
            <a:off x="800100" y="517207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57347"/>
                </a:solidFill>
                <a:latin typeface="Helvetica Neue"/>
                <a:ea typeface="Helvetica Neue"/>
                <a:cs typeface="Helvetica Neue"/>
              </a:defRPr>
            </a:pPr>
            <a:r>
              <a:rPr sz="1500" b="1" i="0">
                <a:solidFill>
                  <a:srgbClr val="157347"/>
                </a:solidFill>
                <a:latin typeface="Helvetica Neue"/>
                <a:ea typeface="Helvetica Neue"/>
                <a:cs typeface="Helvetica Neue"/>
              </a:rPr>
              <a:t>Invariante</a:t>
            </a:r>
          </a:p>
        </p:txBody>
      </p:sp>
      <p:sp>
        <p:nvSpPr>
          <p:cNvPr id="10" name="">
            <a:extLst xmlns:a="http://schemas.openxmlformats.org/drawingml/2006/main">
              <a:ext uri="{FF2B5EF4-FFF2-40B4-BE49-F238E27FC236}">
                <a16:creationId xmlns:a16="http://schemas.microsoft.com/office/drawing/2014/main" id="{EDCA172F-5598-47F0-9F3E-31B0B6F273A6}"/>
              </a:ext>
            </a:extLst>
          </p:cNvPr>
          <p:cNvSpPr>
            <a:spLocks xmlns:a="http://schemas.openxmlformats.org/drawingml/2006/main" noGrp="1"/>
          </p:cNvSpPr>
          <p:nvPr/>
        </p:nvSpPr>
        <p:spPr>
          <a:xfrm xmlns:a="http://schemas.openxmlformats.org/drawingml/2006/main">
            <a:off x="2381250" y="5172075"/>
            <a:ext cx="876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defRPr sz="1725" b="1" i="0">
                <a:solidFill>
                  <a:srgbClr val="0B2A42"/>
                </a:solidFill>
                <a:latin typeface="Helvetica Neue"/>
                <a:ea typeface="Helvetica Neue"/>
                <a:cs typeface="Helvetica Neue"/>
              </a:defRPr>
            </a:pPr>
            <a:r>
              <a:rPr sz="1725" b="1" i="0">
                <a:solidFill>
                  <a:srgbClr val="0B2A42"/>
                </a:solidFill>
                <a:latin typeface="Helvetica Neue"/>
                <a:ea typeface="Helvetica Neue"/>
                <a:cs typeface="Helvetica Neue"/>
              </a:rPr>
              <a:t>Nach Erfolg, Fehler oder Abbruch bleibt die Nutzerfrage erhalten und die Oberfläche wieder bedienbar.</a:t>
            </a:r>
          </a:p>
        </p:txBody>
      </p:sp>
    </p:spTree>
    <p:extLst>
      <p:ext uri="{BB962C8B-B14F-4D97-AF65-F5344CB8AC3E}">
        <p14:creationId xmlns:p14="http://schemas.microsoft.com/office/powerpoint/2010/main" val="763384933"/>
      </p:ext>
    </p:extLst>
  </p:cSld>
</p:sld>
</file>

<file path=ppt/slides/slide1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6912D2-566B-40D6-9DE5-18BDDBE1BE32}"/>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F09C3B5C-B2BA-4E4F-A694-B3A11B725BDC}"/>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Fehler ist kein Endpunkt</a:t>
            </a:r>
          </a:p>
        </p:txBody>
      </p:sp>
      <p:sp>
        <p:nvSpPr>
          <p:cNvPr id="3" name="">
            <a:extLst xmlns:a="http://schemas.openxmlformats.org/drawingml/2006/main">
              <a:ext uri="{FF2B5EF4-FFF2-40B4-BE49-F238E27FC236}">
                <a16:creationId xmlns:a16="http://schemas.microsoft.com/office/drawing/2014/main" id="{6E3842FC-3B38-43C0-81F9-67202509E2D4}"/>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44ED1F-4DCB-49F3-9BDE-626290DEF399}"/>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2FDB0C13-0E1C-488A-B3E1-8E66AF45F25D}"/>
              </a:ext>
            </a:extLst>
          </p:cNvPr>
          <p:cNvSpPr>
            <a:spLocks xmlns:a="http://schemas.openxmlformats.org/drawingml/2006/main" noGrp="1"/>
          </p:cNvSpPr>
          <p:nvPr/>
        </p:nvSpPr>
        <p:spPr>
          <a:xfrm xmlns:a="http://schemas.openxmlformats.org/drawingml/2006/main">
            <a:off x="476250" y="1762125"/>
            <a:ext cx="5295900" cy="3009900"/>
          </a:xfrm>
          <a:prstGeom xmlns:a="http://schemas.openxmlformats.org/drawingml/2006/main" prst="roundRect">
            <a:avLst>
              <a:gd name="adj" fmla="val 379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f50e6d89c4442e2"/>
          <a:stretch xmlns:a="http://schemas.openxmlformats.org/drawingml/2006/main"/>
        </p:blipFill>
        <p:spPr>
          <a:xfrm xmlns:a="http://schemas.openxmlformats.org/drawingml/2006/main">
            <a:off x="896073" y="1800225"/>
            <a:ext cx="4456253" cy="2933700"/>
          </a:xfrm>
          <a:prstGeom xmlns:a="http://schemas.openxmlformats.org/drawingml/2006/main" prst="roundRect">
            <a:avLst>
              <a:gd name="adj" fmla="val 2597"/>
            </a:avLst>
          </a:prstGeom>
        </p:spPr>
      </p:pic>
      <p:sp>
        <p:nvSpPr>
          <p:cNvPr id="7" name="">
            <a:extLst xmlns:a="http://schemas.openxmlformats.org/drawingml/2006/main">
              <a:ext uri="{FF2B5EF4-FFF2-40B4-BE49-F238E27FC236}">
                <a16:creationId xmlns:a16="http://schemas.microsoft.com/office/drawing/2014/main" id="{BE609872-DC29-444F-9562-5B81EAD1EC8F}"/>
              </a:ext>
            </a:extLst>
          </p:cNvPr>
          <p:cNvSpPr>
            <a:spLocks xmlns:a="http://schemas.openxmlformats.org/drawingml/2006/main" noGrp="1"/>
          </p:cNvSpPr>
          <p:nvPr/>
        </p:nvSpPr>
        <p:spPr>
          <a:xfrm xmlns:a="http://schemas.openxmlformats.org/drawingml/2006/main">
            <a:off x="6419850" y="1762125"/>
            <a:ext cx="5295900" cy="3009900"/>
          </a:xfrm>
          <a:prstGeom xmlns:a="http://schemas.openxmlformats.org/drawingml/2006/main" prst="roundRect">
            <a:avLst>
              <a:gd name="adj" fmla="val 379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d813d95ddc248ee"/>
          <a:stretch xmlns:a="http://schemas.openxmlformats.org/drawingml/2006/main"/>
        </p:blipFill>
        <p:spPr>
          <a:xfrm xmlns:a="http://schemas.openxmlformats.org/drawingml/2006/main">
            <a:off x="6839673" y="1800225"/>
            <a:ext cx="4456253" cy="2933700"/>
          </a:xfrm>
          <a:prstGeom xmlns:a="http://schemas.openxmlformats.org/drawingml/2006/main" prst="roundRect">
            <a:avLst>
              <a:gd name="adj" fmla="val 2597"/>
            </a:avLst>
          </a:prstGeom>
        </p:spPr>
      </p:pic>
      <p:sp>
        <p:nvSpPr>
          <p:cNvPr id="9" name="">
            <a:extLst xmlns:a="http://schemas.openxmlformats.org/drawingml/2006/main">
              <a:ext uri="{FF2B5EF4-FFF2-40B4-BE49-F238E27FC236}">
                <a16:creationId xmlns:a16="http://schemas.microsoft.com/office/drawing/2014/main" id="{C875E0E2-6034-40F7-BBD1-88D2AEBE2B5B}"/>
              </a:ext>
            </a:extLst>
          </p:cNvPr>
          <p:cNvSpPr>
            <a:spLocks xmlns:a="http://schemas.openxmlformats.org/drawingml/2006/main" noGrp="1"/>
          </p:cNvSpPr>
          <p:nvPr/>
        </p:nvSpPr>
        <p:spPr>
          <a:xfrm xmlns:a="http://schemas.openxmlformats.org/drawingml/2006/main">
            <a:off x="514350" y="5029200"/>
            <a:ext cx="521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B42318"/>
                </a:solidFill>
                <a:latin typeface="Helvetica Neue"/>
                <a:ea typeface="Helvetica Neue"/>
                <a:cs typeface="Helvetica Neue"/>
              </a:defRPr>
            </a:pPr>
            <a:r>
              <a:rPr sz="1800" b="1" i="0">
                <a:solidFill>
                  <a:srgbClr val="B42318"/>
                </a:solidFill>
                <a:latin typeface="Helvetica Neue"/>
                <a:ea typeface="Helvetica Neue"/>
                <a:cs typeface="Helvetica Neue"/>
              </a:rPr>
              <a:t>Timeout</a:t>
            </a:r>
          </a:p>
        </p:txBody>
      </p:sp>
      <p:sp>
        <p:nvSpPr>
          <p:cNvPr id="10" name="">
            <a:extLst xmlns:a="http://schemas.openxmlformats.org/drawingml/2006/main">
              <a:ext uri="{FF2B5EF4-FFF2-40B4-BE49-F238E27FC236}">
                <a16:creationId xmlns:a16="http://schemas.microsoft.com/office/drawing/2014/main" id="{C860689B-EC56-499D-8E85-C7DC26B36C64}"/>
              </a:ext>
            </a:extLst>
          </p:cNvPr>
          <p:cNvSpPr>
            <a:spLocks xmlns:a="http://schemas.openxmlformats.org/drawingml/2006/main" noGrp="1"/>
          </p:cNvSpPr>
          <p:nvPr/>
        </p:nvSpPr>
        <p:spPr>
          <a:xfrm xmlns:a="http://schemas.openxmlformats.org/drawingml/2006/main">
            <a:off x="514350" y="5448300"/>
            <a:ext cx="5219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10283D"/>
                </a:solidFill>
                <a:latin typeface="Helvetica Neue"/>
                <a:ea typeface="Helvetica Neue"/>
                <a:cs typeface="Helvetica Neue"/>
              </a:defRPr>
            </a:pPr>
            <a:r>
              <a:rPr sz="1425" b="0" i="0">
                <a:solidFill>
                  <a:srgbClr val="10283D"/>
                </a:solidFill>
                <a:latin typeface="Helvetica Neue"/>
                <a:ea typeface="Helvetica Neue"/>
                <a:cs typeface="Helvetica Neue"/>
              </a:rPr>
              <a:t>Frage bleibt erhalten · Retry · menschlicher Support</a:t>
            </a:r>
          </a:p>
        </p:txBody>
      </p:sp>
      <p:sp>
        <p:nvSpPr>
          <p:cNvPr id="11" name="">
            <a:extLst xmlns:a="http://schemas.openxmlformats.org/drawingml/2006/main">
              <a:ext uri="{FF2B5EF4-FFF2-40B4-BE49-F238E27FC236}">
                <a16:creationId xmlns:a16="http://schemas.microsoft.com/office/drawing/2014/main" id="{6DA34D4F-D878-4A26-9803-0CA976733A4E}"/>
              </a:ext>
            </a:extLst>
          </p:cNvPr>
          <p:cNvSpPr>
            <a:spLocks xmlns:a="http://schemas.openxmlformats.org/drawingml/2006/main" noGrp="1"/>
          </p:cNvSpPr>
          <p:nvPr/>
        </p:nvSpPr>
        <p:spPr>
          <a:xfrm xmlns:a="http://schemas.openxmlformats.org/drawingml/2006/main">
            <a:off x="6457950" y="5029200"/>
            <a:ext cx="521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A85A00"/>
                </a:solidFill>
                <a:latin typeface="Helvetica Neue"/>
                <a:ea typeface="Helvetica Neue"/>
                <a:cs typeface="Helvetica Neue"/>
              </a:defRPr>
            </a:pPr>
            <a:r>
              <a:rPr sz="1800" b="1" i="0">
                <a:solidFill>
                  <a:srgbClr val="A85A00"/>
                </a:solidFill>
                <a:latin typeface="Helvetica Neue"/>
                <a:ea typeface="Helvetica Neue"/>
                <a:cs typeface="Helvetica Neue"/>
              </a:rPr>
              <a:t>Eskalation</a:t>
            </a:r>
          </a:p>
        </p:txBody>
      </p:sp>
      <p:sp>
        <p:nvSpPr>
          <p:cNvPr id="12" name="">
            <a:extLst xmlns:a="http://schemas.openxmlformats.org/drawingml/2006/main">
              <a:ext uri="{FF2B5EF4-FFF2-40B4-BE49-F238E27FC236}">
                <a16:creationId xmlns:a16="http://schemas.microsoft.com/office/drawing/2014/main" id="{B56C0BB7-A025-41CC-AD5D-0E7F99AE8F53}"/>
              </a:ext>
            </a:extLst>
          </p:cNvPr>
          <p:cNvSpPr>
            <a:spLocks xmlns:a="http://schemas.openxmlformats.org/drawingml/2006/main" noGrp="1"/>
          </p:cNvSpPr>
          <p:nvPr/>
        </p:nvSpPr>
        <p:spPr>
          <a:xfrm xmlns:a="http://schemas.openxmlformats.org/drawingml/2006/main">
            <a:off x="6457950" y="5448300"/>
            <a:ext cx="5219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10283D"/>
                </a:solidFill>
                <a:latin typeface="Helvetica Neue"/>
                <a:ea typeface="Helvetica Neue"/>
                <a:cs typeface="Helvetica Neue"/>
              </a:defRPr>
            </a:pPr>
            <a:r>
              <a:rPr sz="1425" b="0" i="0">
                <a:solidFill>
                  <a:srgbClr val="10283D"/>
                </a:solidFill>
                <a:latin typeface="Helvetica Neue"/>
                <a:ea typeface="Helvetica Neue"/>
                <a:cs typeface="Helvetica Neue"/>
              </a:rPr>
              <a:t>validierte Pflichtfelder · Verlauf anhängen · Bestätigung</a:t>
            </a:r>
          </a:p>
        </p:txBody>
      </p:sp>
    </p:spTree>
    <p:extLst>
      <p:ext uri="{BB962C8B-B14F-4D97-AF65-F5344CB8AC3E}">
        <p14:creationId xmlns:p14="http://schemas.microsoft.com/office/powerpoint/2010/main" val="15865380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35FA79C-EA57-478F-BAC3-657D2173E065}"/>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F6EA784E-0D19-4FCB-B31C-663F6F6D84F2}"/>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Barrierefreiheit ist Teil des Kernflusses</a:t>
            </a:r>
          </a:p>
        </p:txBody>
      </p:sp>
      <p:sp>
        <p:nvSpPr>
          <p:cNvPr id="3" name="">
            <a:extLst xmlns:a="http://schemas.openxmlformats.org/drawingml/2006/main">
              <a:ext uri="{FF2B5EF4-FFF2-40B4-BE49-F238E27FC236}">
                <a16:creationId xmlns:a16="http://schemas.microsoft.com/office/drawing/2014/main" id="{E33E3F26-594E-486F-8E9F-7F6D27BE69C3}"/>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0DA1F0E-9F72-4E9E-9AF4-041B44B91579}"/>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1ED0F388-31FC-473F-A301-4D05C8CDA032}"/>
              </a:ext>
            </a:extLst>
          </p:cNvPr>
          <p:cNvSpPr>
            <a:spLocks xmlns:a="http://schemas.openxmlformats.org/drawingml/2006/main" noGrp="1"/>
          </p:cNvSpPr>
          <p:nvPr/>
        </p:nvSpPr>
        <p:spPr>
          <a:xfrm xmlns:a="http://schemas.openxmlformats.org/drawingml/2006/main">
            <a:off x="476250" y="1733550"/>
            <a:ext cx="5295900" cy="3009900"/>
          </a:xfrm>
          <a:prstGeom xmlns:a="http://schemas.openxmlformats.org/drawingml/2006/main" prst="roundRect">
            <a:avLst>
              <a:gd name="adj" fmla="val 379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3c6b9276c6c4963"/>
          <a:stretch xmlns:a="http://schemas.openxmlformats.org/drawingml/2006/main"/>
        </p:blipFill>
        <p:spPr>
          <a:xfrm xmlns:a="http://schemas.openxmlformats.org/drawingml/2006/main">
            <a:off x="896073" y="1771650"/>
            <a:ext cx="4456253" cy="2933700"/>
          </a:xfrm>
          <a:prstGeom xmlns:a="http://schemas.openxmlformats.org/drawingml/2006/main" prst="roundRect">
            <a:avLst>
              <a:gd name="adj" fmla="val 2597"/>
            </a:avLst>
          </a:prstGeom>
        </p:spPr>
      </p:pic>
      <p:sp>
        <p:nvSpPr>
          <p:cNvPr id="7" name="">
            <a:extLst xmlns:a="http://schemas.openxmlformats.org/drawingml/2006/main">
              <a:ext uri="{FF2B5EF4-FFF2-40B4-BE49-F238E27FC236}">
                <a16:creationId xmlns:a16="http://schemas.microsoft.com/office/drawing/2014/main" id="{EA975C39-D9BA-4BEB-9980-DF6884BEE159}"/>
              </a:ext>
            </a:extLst>
          </p:cNvPr>
          <p:cNvSpPr>
            <a:spLocks xmlns:a="http://schemas.openxmlformats.org/drawingml/2006/main" noGrp="1"/>
          </p:cNvSpPr>
          <p:nvPr/>
        </p:nvSpPr>
        <p:spPr>
          <a:xfrm xmlns:a="http://schemas.openxmlformats.org/drawingml/2006/main">
            <a:off x="6419850" y="1733550"/>
            <a:ext cx="5295900" cy="3009900"/>
          </a:xfrm>
          <a:prstGeom xmlns:a="http://schemas.openxmlformats.org/drawingml/2006/main" prst="roundRect">
            <a:avLst>
              <a:gd name="adj" fmla="val 379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bc7c32c114149ea"/>
          <a:stretch xmlns:a="http://schemas.openxmlformats.org/drawingml/2006/main"/>
        </p:blipFill>
        <p:spPr>
          <a:xfrm xmlns:a="http://schemas.openxmlformats.org/drawingml/2006/main">
            <a:off x="6839673" y="1771650"/>
            <a:ext cx="4456253" cy="2933700"/>
          </a:xfrm>
          <a:prstGeom xmlns:a="http://schemas.openxmlformats.org/drawingml/2006/main" prst="roundRect">
            <a:avLst>
              <a:gd name="adj" fmla="val 2597"/>
            </a:avLst>
          </a:prstGeom>
        </p:spPr>
      </p:pic>
      <p:sp>
        <p:nvSpPr>
          <p:cNvPr id="9" name="">
            <a:extLst xmlns:a="http://schemas.openxmlformats.org/drawingml/2006/main">
              <a:ext uri="{FF2B5EF4-FFF2-40B4-BE49-F238E27FC236}">
                <a16:creationId xmlns:a16="http://schemas.microsoft.com/office/drawing/2014/main" id="{8A8F92C6-F11B-477C-9099-7C188235E457}"/>
              </a:ext>
            </a:extLst>
          </p:cNvPr>
          <p:cNvSpPr>
            <a:spLocks xmlns:a="http://schemas.openxmlformats.org/drawingml/2006/main" noGrp="1"/>
          </p:cNvSpPr>
          <p:nvPr/>
        </p:nvSpPr>
        <p:spPr>
          <a:xfrm xmlns:a="http://schemas.openxmlformats.org/drawingml/2006/main">
            <a:off x="514350" y="50101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2D75B8"/>
                </a:solidFill>
                <a:latin typeface="Helvetica Neue"/>
                <a:ea typeface="Helvetica Neue"/>
                <a:cs typeface="Helvetica Neue"/>
              </a:defRPr>
            </a:pPr>
            <a:r>
              <a:rPr sz="1725" b="1" i="0">
                <a:solidFill>
                  <a:srgbClr val="2D75B8"/>
                </a:solidFill>
                <a:latin typeface="Helvetica Neue"/>
                <a:ea typeface="Helvetica Neue"/>
                <a:cs typeface="Helvetica Neue"/>
              </a:rPr>
              <a:t>Tastatur + Screenreader</a:t>
            </a:r>
          </a:p>
        </p:txBody>
      </p:sp>
      <p:sp>
        <p:nvSpPr>
          <p:cNvPr id="10" name="">
            <a:extLst xmlns:a="http://schemas.openxmlformats.org/drawingml/2006/main">
              <a:ext uri="{FF2B5EF4-FFF2-40B4-BE49-F238E27FC236}">
                <a16:creationId xmlns:a16="http://schemas.microsoft.com/office/drawing/2014/main" id="{38E46D37-1AA5-49A2-B637-29A642A283F2}"/>
              </a:ext>
            </a:extLst>
          </p:cNvPr>
          <p:cNvSpPr>
            <a:spLocks xmlns:a="http://schemas.openxmlformats.org/drawingml/2006/main" noGrp="1"/>
          </p:cNvSpPr>
          <p:nvPr/>
        </p:nvSpPr>
        <p:spPr>
          <a:xfrm xmlns:a="http://schemas.openxmlformats.org/drawingml/2006/main">
            <a:off x="514350" y="54102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0283D"/>
                </a:solidFill>
                <a:latin typeface="Helvetica Neue"/>
                <a:ea typeface="Helvetica Neue"/>
                <a:cs typeface="Helvetica Neue"/>
              </a:defRPr>
            </a:pPr>
            <a:r>
              <a:rPr sz="1350" b="0" i="0">
                <a:solidFill>
                  <a:srgbClr val="10283D"/>
                </a:solidFill>
                <a:latin typeface="Helvetica Neue"/>
                <a:ea typeface="Helvetica Neue"/>
                <a:cs typeface="Helvetica Neue"/>
              </a:rPr>
              <a:t>Skip-Link · sichtbarer Fokus · aria-live · Fokus auf neue Antwort</a:t>
            </a:r>
          </a:p>
        </p:txBody>
      </p:sp>
      <p:sp>
        <p:nvSpPr>
          <p:cNvPr id="11" name="">
            <a:extLst xmlns:a="http://schemas.openxmlformats.org/drawingml/2006/main">
              <a:ext uri="{FF2B5EF4-FFF2-40B4-BE49-F238E27FC236}">
                <a16:creationId xmlns:a16="http://schemas.microsoft.com/office/drawing/2014/main" id="{A01CEDC8-D2EF-4141-B6EC-82C7C2DACAE9}"/>
              </a:ext>
            </a:extLst>
          </p:cNvPr>
          <p:cNvSpPr>
            <a:spLocks xmlns:a="http://schemas.openxmlformats.org/drawingml/2006/main" noGrp="1"/>
          </p:cNvSpPr>
          <p:nvPr/>
        </p:nvSpPr>
        <p:spPr>
          <a:xfrm xmlns:a="http://schemas.openxmlformats.org/drawingml/2006/main">
            <a:off x="6457950" y="50101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1867B"/>
                </a:solidFill>
                <a:latin typeface="Helvetica Neue"/>
                <a:ea typeface="Helvetica Neue"/>
                <a:cs typeface="Helvetica Neue"/>
              </a:defRPr>
            </a:pPr>
            <a:r>
              <a:rPr sz="1725" b="1" i="0">
                <a:solidFill>
                  <a:srgbClr val="11867B"/>
                </a:solidFill>
                <a:latin typeface="Helvetica Neue"/>
                <a:ea typeface="Helvetica Neue"/>
                <a:cs typeface="Helvetica Neue"/>
              </a:rPr>
              <a:t>Wahrnehmung + Sprache</a:t>
            </a:r>
          </a:p>
        </p:txBody>
      </p:sp>
      <p:sp>
        <p:nvSpPr>
          <p:cNvPr id="12" name="">
            <a:extLst xmlns:a="http://schemas.openxmlformats.org/drawingml/2006/main">
              <a:ext uri="{FF2B5EF4-FFF2-40B4-BE49-F238E27FC236}">
                <a16:creationId xmlns:a16="http://schemas.microsoft.com/office/drawing/2014/main" id="{DAB769F4-B209-4FDF-A239-E84522499205}"/>
              </a:ext>
            </a:extLst>
          </p:cNvPr>
          <p:cNvSpPr>
            <a:spLocks xmlns:a="http://schemas.openxmlformats.org/drawingml/2006/main" noGrp="1"/>
          </p:cNvSpPr>
          <p:nvPr/>
        </p:nvSpPr>
        <p:spPr>
          <a:xfrm xmlns:a="http://schemas.openxmlformats.org/drawingml/2006/main">
            <a:off x="6457950" y="54102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0283D"/>
                </a:solidFill>
                <a:latin typeface="Helvetica Neue"/>
                <a:ea typeface="Helvetica Neue"/>
                <a:cs typeface="Helvetica Neue"/>
              </a:defRPr>
            </a:pPr>
            <a:r>
              <a:rPr sz="1350" b="0" i="0">
                <a:solidFill>
                  <a:srgbClr val="10283D"/>
                </a:solidFill>
                <a:latin typeface="Helvetica Neue"/>
                <a:ea typeface="Helvetica Neue"/>
                <a:cs typeface="Helvetica Neue"/>
              </a:rPr>
              <a:t>Textgrösse · hoher Kontrast · Spracheingabe · Vorlesen</a:t>
            </a:r>
          </a:p>
        </p:txBody>
      </p:sp>
    </p:spTree>
    <p:extLst>
      <p:ext uri="{BB962C8B-B14F-4D97-AF65-F5344CB8AC3E}">
        <p14:creationId xmlns:p14="http://schemas.microsoft.com/office/powerpoint/2010/main" val="1099301988"/>
      </p:ext>
    </p:extLst>
  </p:cSld>
</p:sld>
</file>

<file path=ppt/slides/slide1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8F9400-467E-4E79-AFB1-8A87CA112FF6}"/>
              </a:ext>
            </a:extLst>
          </p:cNvPr>
          <p:cNvSpPr>
            <a:spLocks xmlns:a="http://schemas.openxmlformats.org/drawingml/2006/main" noGrp="1"/>
          </p:cNvSpPr>
          <p:nvPr/>
        </p:nvSpPr>
        <p:spPr>
          <a:xfrm xmlns:a="http://schemas.openxmlformats.org/drawingml/2006/main">
            <a:off x="495300" y="2952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1867B"/>
                </a:solidFill>
                <a:latin typeface="Helvetica Neue"/>
                <a:ea typeface="Helvetica Neue"/>
                <a:cs typeface="Helvetica Neue"/>
              </a:defRPr>
            </a:pPr>
            <a:r>
              <a:rPr sz="1125" b="1" i="0">
                <a:solidFill>
                  <a:srgbClr val="11867B"/>
                </a:solidFill>
                <a:latin typeface="Helvetica Neue"/>
                <a:ea typeface="Helvetica Neue"/>
                <a:cs typeface="Helvetica Neue"/>
              </a:rPr>
              <a:t>SUPPORTBOT AI · MODUL 322</a:t>
            </a:r>
          </a:p>
        </p:txBody>
      </p:sp>
      <p:sp>
        <p:nvSpPr>
          <p:cNvPr id="2" name="">
            <a:extLst xmlns:a="http://schemas.openxmlformats.org/drawingml/2006/main">
              <a:ext uri="{FF2B5EF4-FFF2-40B4-BE49-F238E27FC236}">
                <a16:creationId xmlns:a16="http://schemas.microsoft.com/office/drawing/2014/main" id="{2FE38A0B-5EA1-4571-83D2-02AE64A89CBB}"/>
              </a:ext>
            </a:extLst>
          </p:cNvPr>
          <p:cNvSpPr>
            <a:spLocks xmlns:a="http://schemas.openxmlformats.org/drawingml/2006/main" noGrp="1"/>
          </p:cNvSpPr>
          <p:nvPr/>
        </p:nvSpPr>
        <p:spPr>
          <a:xfrm xmlns:a="http://schemas.openxmlformats.org/drawingml/2006/main">
            <a:off x="495300" y="666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0B2A42"/>
                </a:solidFill>
                <a:latin typeface="Helvetica Neue"/>
                <a:ea typeface="Helvetica Neue"/>
                <a:cs typeface="Helvetica Neue"/>
              </a:defRPr>
            </a:pPr>
            <a:r>
              <a:rPr sz="3150" b="1" i="0">
                <a:solidFill>
                  <a:srgbClr val="0B2A42"/>
                </a:solidFill>
                <a:latin typeface="Helvetica Neue"/>
                <a:ea typeface="Helvetica Neue"/>
                <a:cs typeface="Helvetica Neue"/>
              </a:rPr>
              <a:t>Evaluation: vorbereitet, echte Daten folgen morgen</a:t>
            </a:r>
          </a:p>
        </p:txBody>
      </p:sp>
      <p:sp>
        <p:nvSpPr>
          <p:cNvPr id="3" name="">
            <a:extLst xmlns:a="http://schemas.openxmlformats.org/drawingml/2006/main">
              <a:ext uri="{FF2B5EF4-FFF2-40B4-BE49-F238E27FC236}">
                <a16:creationId xmlns:a16="http://schemas.microsoft.com/office/drawing/2014/main" id="{534EEEAA-F38A-4E84-9E6E-91CBAE7EB66E}"/>
              </a:ext>
            </a:extLst>
          </p:cNvPr>
          <p:cNvSpPr>
            <a:spLocks xmlns:a="http://schemas.openxmlformats.org/drawingml/2006/main" noGrp="1"/>
          </p:cNvSpPr>
          <p:nvPr/>
        </p:nvSpPr>
        <p:spPr>
          <a:xfrm xmlns:a="http://schemas.openxmlformats.org/drawingml/2006/main">
            <a:off x="495300" y="1362075"/>
            <a:ext cx="11201400" cy="28575"/>
          </a:xfrm>
          <a:prstGeom xmlns:a="http://schemas.openxmlformats.org/drawingml/2006/main" prst="rect">
            <a:avLst/>
          </a:prstGeom>
          <a:solidFill xmlns:a="http://schemas.openxmlformats.org/drawingml/2006/main">
            <a:srgbClr val="1186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AD7E8F-5041-437C-B00C-E0E0B37B036B}"/>
              </a:ext>
            </a:extLst>
          </p:cNvPr>
          <p:cNvSpPr>
            <a:spLocks xmlns:a="http://schemas.openxmlformats.org/drawingml/2006/main" noGrp="1"/>
          </p:cNvSpPr>
          <p:nvPr/>
        </p:nvSpPr>
        <p:spPr>
          <a:xfrm xmlns:a="http://schemas.openxmlformats.org/drawingml/2006/main">
            <a:off x="11115675" y="63627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F7285"/>
                </a:solidFill>
                <a:latin typeface="Helvetica Neue"/>
                <a:ea typeface="Helvetica Neue"/>
                <a:cs typeface="Helvetica Neue"/>
              </a:defRPr>
            </a:pPr>
            <a:r>
              <a:rPr sz="1050" b="1" i="0">
                <a:solidFill>
                  <a:srgbClr val="5F7285"/>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3178D614-34B6-446E-84D1-571B7000629E}"/>
              </a:ext>
            </a:extLst>
          </p:cNvPr>
          <p:cNvSpPr>
            <a:spLocks xmlns:a="http://schemas.openxmlformats.org/drawingml/2006/main" noGrp="1"/>
          </p:cNvSpPr>
          <p:nvPr/>
        </p:nvSpPr>
        <p:spPr>
          <a:xfrm xmlns:a="http://schemas.openxmlformats.org/drawingml/2006/main">
            <a:off x="552450" y="17907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867B"/>
                </a:solidFill>
                <a:latin typeface="Helvetica Neue"/>
                <a:ea typeface="Helvetica Neue"/>
                <a:cs typeface="Helvetica Neue"/>
              </a:defRPr>
            </a:pPr>
            <a:r>
              <a:rPr sz="1425" b="1" i="0">
                <a:solidFill>
                  <a:srgbClr val="11867B"/>
                </a:solidFill>
                <a:latin typeface="Helvetica Neue"/>
                <a:ea typeface="Helvetica Neue"/>
                <a:cs typeface="Helvetica Neue"/>
              </a:rPr>
              <a:t>BEREITS VORBEREITET</a:t>
            </a:r>
          </a:p>
        </p:txBody>
      </p:sp>
      <p:sp>
        <p:nvSpPr>
          <p:cNvPr id="6" name="">
            <a:extLst xmlns:a="http://schemas.openxmlformats.org/drawingml/2006/main">
              <a:ext uri="{FF2B5EF4-FFF2-40B4-BE49-F238E27FC236}">
                <a16:creationId xmlns:a16="http://schemas.microsoft.com/office/drawing/2014/main" id="{7AACCD9B-6CF0-4FCE-BE53-DFE976FF6D73}"/>
              </a:ext>
            </a:extLst>
          </p:cNvPr>
          <p:cNvSpPr>
            <a:spLocks xmlns:a="http://schemas.openxmlformats.org/drawingml/2006/main" noGrp="1"/>
          </p:cNvSpPr>
          <p:nvPr/>
        </p:nvSpPr>
        <p:spPr>
          <a:xfrm xmlns:a="http://schemas.openxmlformats.org/drawingml/2006/main">
            <a:off x="552450" y="2276475"/>
            <a:ext cx="4953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 Walkthrough für zwei Szenarien</a:t>
            </a:r>
          </a:p>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 Peer-Testbogen für zwei Personen</a:t>
            </a:r>
          </a:p>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 SUS mit korrekter Auswertung</a:t>
            </a:r>
          </a:p>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 drei Trust-Fragen</a:t>
            </a:r>
          </a:p>
          <a:p xmlns:a="http://schemas.openxmlformats.org/drawingml/2006/main">
            <a:pPr algn="l">
              <a:defRPr sz="1800" b="1" i="0">
                <a:solidFill>
                  <a:srgbClr val="0B2A42"/>
                </a:solidFill>
                <a:latin typeface="Helvetica Neue"/>
                <a:ea typeface="Helvetica Neue"/>
                <a:cs typeface="Helvetica Neue"/>
              </a:defRPr>
            </a:pPr>
            <a:r>
              <a:rPr sz="1800" b="1" i="0">
                <a:solidFill>
                  <a:srgbClr val="0B2A42"/>
                </a:solidFill>
                <a:latin typeface="Helvetica Neue"/>
                <a:ea typeface="Helvetica Neue"/>
                <a:cs typeface="Helvetica Neue"/>
              </a:rPr>
              <a:t>• Funktions- und WCAG-Checkliste</a:t>
            </a:r>
          </a:p>
        </p:txBody>
      </p:sp>
      <p:sp>
        <p:nvSpPr>
          <p:cNvPr id="7" name="">
            <a:extLst xmlns:a="http://schemas.openxmlformats.org/drawingml/2006/main">
              <a:ext uri="{FF2B5EF4-FFF2-40B4-BE49-F238E27FC236}">
                <a16:creationId xmlns:a16="http://schemas.microsoft.com/office/drawing/2014/main" id="{2CC2D8EF-AE02-46B3-9F09-2264127BBD5B}"/>
              </a:ext>
            </a:extLst>
          </p:cNvPr>
          <p:cNvSpPr>
            <a:spLocks xmlns:a="http://schemas.openxmlformats.org/drawingml/2006/main" noGrp="1"/>
          </p:cNvSpPr>
          <p:nvPr/>
        </p:nvSpPr>
        <p:spPr>
          <a:xfrm xmlns:a="http://schemas.openxmlformats.org/drawingml/2006/main">
            <a:off x="6438900" y="1790700"/>
            <a:ext cx="5238750" cy="3143250"/>
          </a:xfrm>
          <a:prstGeom xmlns:a="http://schemas.openxmlformats.org/drawingml/2006/main" prst="roundRect">
            <a:avLst>
              <a:gd name="adj" fmla="val 3636"/>
            </a:avLst>
          </a:prstGeom>
          <a:solidFill xmlns:a="http://schemas.openxmlformats.org/drawingml/2006/main">
            <a:srgbClr val="FFF3D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F30004-9414-4AE5-8814-BA959181A608}"/>
              </a:ext>
            </a:extLst>
          </p:cNvPr>
          <p:cNvSpPr>
            <a:spLocks xmlns:a="http://schemas.openxmlformats.org/drawingml/2006/main" noGrp="1"/>
          </p:cNvSpPr>
          <p:nvPr/>
        </p:nvSpPr>
        <p:spPr>
          <a:xfrm xmlns:a="http://schemas.openxmlformats.org/drawingml/2006/main">
            <a:off x="6791325" y="21526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A85A00"/>
                </a:solidFill>
                <a:latin typeface="Helvetica Neue"/>
                <a:ea typeface="Helvetica Neue"/>
                <a:cs typeface="Helvetica Neue"/>
              </a:defRPr>
            </a:pPr>
            <a:r>
              <a:rPr sz="1800" b="1" i="0">
                <a:solidFill>
                  <a:srgbClr val="A85A00"/>
                </a:solidFill>
                <a:latin typeface="Helvetica Neue"/>
                <a:ea typeface="Helvetica Neue"/>
                <a:cs typeface="Helvetica Neue"/>
              </a:rPr>
              <a:t>VOR DER ABGABE</a:t>
            </a:r>
          </a:p>
        </p:txBody>
      </p:sp>
      <p:sp>
        <p:nvSpPr>
          <p:cNvPr id="9" name="">
            <a:extLst xmlns:a="http://schemas.openxmlformats.org/drawingml/2006/main">
              <a:ext uri="{FF2B5EF4-FFF2-40B4-BE49-F238E27FC236}">
                <a16:creationId xmlns:a16="http://schemas.microsoft.com/office/drawing/2014/main" id="{52C8A337-F266-4A86-9EA4-51112E09ACB1}"/>
              </a:ext>
            </a:extLst>
          </p:cNvPr>
          <p:cNvSpPr>
            <a:spLocks xmlns:a="http://schemas.openxmlformats.org/drawingml/2006/main" noGrp="1"/>
          </p:cNvSpPr>
          <p:nvPr/>
        </p:nvSpPr>
        <p:spPr>
          <a:xfrm xmlns:a="http://schemas.openxmlformats.org/drawingml/2006/main">
            <a:off x="6791325" y="2781300"/>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0283D"/>
                </a:solidFill>
                <a:latin typeface="Helvetica Neue"/>
                <a:ea typeface="Helvetica Neue"/>
                <a:cs typeface="Helvetica Neue"/>
              </a:defRPr>
            </a:pPr>
            <a:r>
              <a:rPr sz="1650" b="1" i="0">
                <a:solidFill>
                  <a:srgbClr val="10283D"/>
                </a:solidFill>
                <a:latin typeface="Helvetica Neue"/>
                <a:ea typeface="Helvetica Neue"/>
                <a:cs typeface="Helvetica Neue"/>
              </a:rPr>
              <a:t>1  zwei echte Personen testen</a:t>
            </a:r>
          </a:p>
          <a:p xmlns:a="http://schemas.openxmlformats.org/drawingml/2006/main">
            <a:pPr algn="l">
              <a:defRPr sz="1650" b="1" i="0">
                <a:solidFill>
                  <a:srgbClr val="10283D"/>
                </a:solidFill>
                <a:latin typeface="Helvetica Neue"/>
                <a:ea typeface="Helvetica Neue"/>
                <a:cs typeface="Helvetica Neue"/>
              </a:defRPr>
            </a:pPr>
            <a:r>
              <a:rPr sz="1650" b="1" i="0">
                <a:solidFill>
                  <a:srgbClr val="10283D"/>
                </a:solidFill>
                <a:latin typeface="Helvetica Neue"/>
                <a:ea typeface="Helvetica Neue"/>
                <a:cs typeface="Helvetica Neue"/>
              </a:rPr>
              <a:t>2  SUS + Trust auswerten</a:t>
            </a:r>
          </a:p>
          <a:p xmlns:a="http://schemas.openxmlformats.org/drawingml/2006/main">
            <a:pPr algn="l">
              <a:defRPr sz="1650" b="1" i="0">
                <a:solidFill>
                  <a:srgbClr val="10283D"/>
                </a:solidFill>
                <a:latin typeface="Helvetica Neue"/>
                <a:ea typeface="Helvetica Neue"/>
                <a:cs typeface="Helvetica Neue"/>
              </a:defRPr>
            </a:pPr>
            <a:r>
              <a:rPr sz="1650" b="1" i="0">
                <a:solidFill>
                  <a:srgbClr val="10283D"/>
                </a:solidFill>
                <a:latin typeface="Helvetica Neue"/>
                <a:ea typeface="Helvetica Neue"/>
                <a:cs typeface="Helvetica Neue"/>
              </a:rPr>
              <a:t>3  mindestens drei Befunde umsetzen</a:t>
            </a:r>
          </a:p>
          <a:p xmlns:a="http://schemas.openxmlformats.org/drawingml/2006/main">
            <a:pPr algn="l">
              <a:defRPr sz="1650" b="1" i="0">
                <a:solidFill>
                  <a:srgbClr val="10283D"/>
                </a:solidFill>
                <a:latin typeface="Helvetica Neue"/>
                <a:ea typeface="Helvetica Neue"/>
                <a:cs typeface="Helvetica Neue"/>
              </a:defRPr>
            </a:pPr>
            <a:r>
              <a:rPr sz="1650" b="1" i="0">
                <a:solidFill>
                  <a:srgbClr val="10283D"/>
                </a:solidFill>
                <a:latin typeface="Helvetica Neue"/>
                <a:ea typeface="Helvetica Neue"/>
                <a:cs typeface="Helvetica Neue"/>
              </a:rPr>
              <a:t>4  Nachprüfung dokumentieren</a:t>
            </a:r>
          </a:p>
          <a:p xmlns:a="http://schemas.openxmlformats.org/drawingml/2006/main">
            <a:pPr algn="l">
              <a:defRPr sz="1650" b="1" i="0">
                <a:solidFill>
                  <a:srgbClr val="10283D"/>
                </a:solidFill>
                <a:latin typeface="Helvetica Neue"/>
                <a:ea typeface="Helvetica Neue"/>
                <a:cs typeface="Helvetica Neue"/>
              </a:defRPr>
            </a:pPr>
            <a:r>
              <a:rPr sz="1650" b="1" i="0">
                <a:solidFill>
                  <a:srgbClr val="10283D"/>
                </a:solidFill>
                <a:latin typeface="Helvetica Neue"/>
                <a:ea typeface="Helvetica Neue"/>
                <a:cs typeface="Helvetica Neue"/>
              </a:rPr>
              <a:t>5  Lighthouse/axe-Screenshot ergänzen</a:t>
            </a:r>
          </a:p>
        </p:txBody>
      </p:sp>
      <p:sp>
        <p:nvSpPr>
          <p:cNvPr id="10" name="">
            <a:extLst xmlns:a="http://schemas.openxmlformats.org/drawingml/2006/main">
              <a:ext uri="{FF2B5EF4-FFF2-40B4-BE49-F238E27FC236}">
                <a16:creationId xmlns:a16="http://schemas.microsoft.com/office/drawing/2014/main" id="{BD7DF1E7-CBA8-4B4E-B9AF-C0BB59479CF6}"/>
              </a:ext>
            </a:extLst>
          </p:cNvPr>
          <p:cNvSpPr>
            <a:spLocks xmlns:a="http://schemas.openxmlformats.org/drawingml/2006/main" noGrp="1"/>
          </p:cNvSpPr>
          <p:nvPr/>
        </p:nvSpPr>
        <p:spPr>
          <a:xfrm xmlns:a="http://schemas.openxmlformats.org/drawingml/2006/main">
            <a:off x="1352550" y="5505450"/>
            <a:ext cx="948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26"/>
          </a:bodyPr>
          <a:lstStyle xmlns:a="http://schemas.openxmlformats.org/drawingml/2006/main"/>
          <a:p xmlns:a="http://schemas.openxmlformats.org/drawingml/2006/main">
            <a:pPr algn="ctr">
              <a:defRPr sz="1725" b="1" i="0">
                <a:solidFill>
                  <a:srgbClr val="B42318"/>
                </a:solidFill>
                <a:latin typeface="Helvetica Neue"/>
                <a:ea typeface="Helvetica Neue"/>
                <a:cs typeface="Helvetica Neue"/>
              </a:defRPr>
            </a:pPr>
            <a:r>
              <a:rPr sz="1725" b="1" i="0">
                <a:solidFill>
                  <a:srgbClr val="B42318"/>
                </a:solidFill>
                <a:latin typeface="Helvetica Neue"/>
                <a:ea typeface="Helvetica Neue"/>
                <a:cs typeface="Helvetica Neue"/>
              </a:rPr>
              <a:t>Keine erfundenen Testwerte – jede Optimierung muss auf einen echten Befund zurückführbar sein.</a:t>
            </a:r>
          </a:p>
        </p:txBody>
      </p:sp>
    </p:spTree>
    <p:extLst>
      <p:ext uri="{BB962C8B-B14F-4D97-AF65-F5344CB8AC3E}">
        <p14:creationId xmlns:p14="http://schemas.microsoft.com/office/powerpoint/2010/main" val="1293852323"/>
      </p:ext>
    </p:extLst>
  </p:cSld>
</p:sld>
</file>

<file path=ppt/slides/slide13.xml><?xml version="1.0" encoding="utf-8"?>
<p:sld xmlns:p="http://schemas.openxmlformats.org/presentationml/2006/main">
  <p:cSld>
    <p:bg>
      <p:bgPr>
        <a:solidFill xmlns:a="http://schemas.openxmlformats.org/drawingml/2006/main">
          <a:srgbClr val="0B2A4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C0C5120-7950-46A7-AEF6-8ADE8BA977DB}"/>
              </a:ext>
            </a:extLst>
          </p:cNvPr>
          <p:cNvSpPr>
            <a:spLocks xmlns:a="http://schemas.openxmlformats.org/drawingml/2006/main" noGrp="1"/>
          </p:cNvSpPr>
          <p:nvPr/>
        </p:nvSpPr>
        <p:spPr>
          <a:xfrm xmlns:a="http://schemas.openxmlformats.org/drawingml/2006/main">
            <a:off x="10953750" y="5143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1" i="0">
                <a:solidFill>
                  <a:srgbClr val="9CCFD0"/>
                </a:solidFill>
                <a:latin typeface="Helvetica Neue"/>
                <a:ea typeface="Helvetica Neue"/>
                <a:cs typeface="Helvetica Neue"/>
              </a:defRPr>
            </a:pPr>
            <a:r>
              <a:rPr sz="1200" b="1" i="0">
                <a:solidFill>
                  <a:srgbClr val="9CCFD0"/>
                </a:solidFill>
                <a:latin typeface="Helvetica Neue"/>
                <a:ea typeface="Helvetica Neue"/>
                <a:cs typeface="Helvetica Neue"/>
              </a:rPr>
              <a:t>13</a:t>
            </a:r>
          </a:p>
        </p:txBody>
      </p:sp>
      <p:sp>
        <p:nvSpPr>
          <p:cNvPr id="2" name="">
            <a:extLst xmlns:a="http://schemas.openxmlformats.org/drawingml/2006/main">
              <a:ext uri="{FF2B5EF4-FFF2-40B4-BE49-F238E27FC236}">
                <a16:creationId xmlns:a16="http://schemas.microsoft.com/office/drawing/2014/main" id="{CEBFA6C8-54A6-4E5F-AA20-3BA6686FE9A2}"/>
              </a:ext>
            </a:extLst>
          </p:cNvPr>
          <p:cNvSpPr>
            <a:spLocks xmlns:a="http://schemas.openxmlformats.org/drawingml/2006/main" noGrp="1"/>
          </p:cNvSpPr>
          <p:nvPr/>
        </p:nvSpPr>
        <p:spPr>
          <a:xfrm xmlns:a="http://schemas.openxmlformats.org/drawingml/2006/main">
            <a:off x="628650" y="6858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i="0">
                <a:solidFill>
                  <a:srgbClr val="FFFFFF"/>
                </a:solidFill>
                <a:latin typeface="Helvetica Neue"/>
                <a:ea typeface="Helvetica Neue"/>
                <a:cs typeface="Helvetica Neue"/>
              </a:defRPr>
            </a:pPr>
            <a:r>
              <a:rPr sz="3600" b="1" i="0">
                <a:solidFill>
                  <a:srgbClr val="FFFFFF"/>
                </a:solidFill>
                <a:latin typeface="Helvetica Neue"/>
                <a:ea typeface="Helvetica Neue"/>
                <a:cs typeface="Helvetica Neue"/>
              </a:rPr>
              <a:t>Die wichtigste Erkenntnis</a:t>
            </a:r>
          </a:p>
        </p:txBody>
      </p:sp>
      <p:sp>
        <p:nvSpPr>
          <p:cNvPr id="3" name="">
            <a:extLst xmlns:a="http://schemas.openxmlformats.org/drawingml/2006/main">
              <a:ext uri="{FF2B5EF4-FFF2-40B4-BE49-F238E27FC236}">
                <a16:creationId xmlns:a16="http://schemas.microsoft.com/office/drawing/2014/main" id="{81AB47A5-3563-4D99-B61E-A81C86F2686D}"/>
              </a:ext>
            </a:extLst>
          </p:cNvPr>
          <p:cNvSpPr>
            <a:spLocks xmlns:a="http://schemas.openxmlformats.org/drawingml/2006/main" noGrp="1"/>
          </p:cNvSpPr>
          <p:nvPr/>
        </p:nvSpPr>
        <p:spPr>
          <a:xfrm xmlns:a="http://schemas.openxmlformats.org/drawingml/2006/main">
            <a:off x="628650" y="180975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i="0">
                <a:solidFill>
                  <a:srgbClr val="78DDD1"/>
                </a:solidFill>
                <a:latin typeface="Helvetica Neue"/>
                <a:ea typeface="Helvetica Neue"/>
                <a:cs typeface="Helvetica Neue"/>
              </a:defRPr>
            </a:pPr>
            <a:r>
              <a:rPr sz="2625" b="1" i="0">
                <a:solidFill>
                  <a:srgbClr val="78DDD1"/>
                </a:solidFill>
                <a:latin typeface="Helvetica Neue"/>
                <a:ea typeface="Helvetica Neue"/>
                <a:cs typeface="Helvetica Neue"/>
              </a:rPr>
              <a:t>Eine gute KI-Oberfläche beantwortet nicht nur Fragen. Sie macht Unsicherheit beherrschbar.</a:t>
            </a:r>
          </a:p>
        </p:txBody>
      </p:sp>
      <p:sp>
        <p:nvSpPr>
          <p:cNvPr id="4" name="">
            <a:extLst xmlns:a="http://schemas.openxmlformats.org/drawingml/2006/main">
              <a:ext uri="{FF2B5EF4-FFF2-40B4-BE49-F238E27FC236}">
                <a16:creationId xmlns:a16="http://schemas.microsoft.com/office/drawing/2014/main" id="{4227C086-9DE8-463A-A181-269F64F69856}"/>
              </a:ext>
            </a:extLst>
          </p:cNvPr>
          <p:cNvSpPr>
            <a:spLocks xmlns:a="http://schemas.openxmlformats.org/drawingml/2006/main" noGrp="1"/>
          </p:cNvSpPr>
          <p:nvPr/>
        </p:nvSpPr>
        <p:spPr>
          <a:xfrm xmlns:a="http://schemas.openxmlformats.org/drawingml/2006/main">
            <a:off x="628650" y="3267075"/>
            <a:ext cx="10858500" cy="19050"/>
          </a:xfrm>
          <a:prstGeom xmlns:a="http://schemas.openxmlformats.org/drawingml/2006/main" prst="rect">
            <a:avLst/>
          </a:prstGeom>
          <a:solidFill xmlns:a="http://schemas.openxmlformats.org/drawingml/2006/main">
            <a:srgbClr val="31526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A43E70-A2C5-4316-96D2-56100B311A7C}"/>
              </a:ext>
            </a:extLst>
          </p:cNvPr>
          <p:cNvSpPr>
            <a:spLocks xmlns:a="http://schemas.openxmlformats.org/drawingml/2006/main" noGrp="1"/>
          </p:cNvSpPr>
          <p:nvPr/>
        </p:nvSpPr>
        <p:spPr>
          <a:xfrm xmlns:a="http://schemas.openxmlformats.org/drawingml/2006/main">
            <a:off x="628650" y="3667125"/>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i="0">
                <a:solidFill>
                  <a:srgbClr val="78DDD1"/>
                </a:solidFill>
                <a:latin typeface="Helvetica Neue"/>
                <a:ea typeface="Helvetica Neue"/>
                <a:cs typeface="Helvetica Neue"/>
              </a:defRPr>
            </a:pPr>
            <a:r>
              <a:rPr sz="2400" b="1" i="0">
                <a:solidFill>
                  <a:srgbClr val="78DDD1"/>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BA748FB3-52D2-43C3-B8B6-E1EF1DE727BC}"/>
              </a:ext>
            </a:extLst>
          </p:cNvPr>
          <p:cNvSpPr>
            <a:spLocks xmlns:a="http://schemas.openxmlformats.org/drawingml/2006/main" noGrp="1"/>
          </p:cNvSpPr>
          <p:nvPr/>
        </p:nvSpPr>
        <p:spPr>
          <a:xfrm xmlns:a="http://schemas.openxmlformats.org/drawingml/2006/main">
            <a:off x="1143000" y="3714750"/>
            <a:ext cx="2619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Transparenz vor</a:t>
            </a:r>
          </a:p>
          <a:p xmlns:a="http://schemas.openxmlformats.org/drawingml/2006/main">
            <a:pPr algn="l">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Scheinpräzision</a:t>
            </a:r>
          </a:p>
        </p:txBody>
      </p:sp>
      <p:sp>
        <p:nvSpPr>
          <p:cNvPr id="7" name="">
            <a:extLst xmlns:a="http://schemas.openxmlformats.org/drawingml/2006/main">
              <a:ext uri="{FF2B5EF4-FFF2-40B4-BE49-F238E27FC236}">
                <a16:creationId xmlns:a16="http://schemas.microsoft.com/office/drawing/2014/main" id="{192D70B2-2F38-4585-98F6-66F7C49989D5}"/>
              </a:ext>
            </a:extLst>
          </p:cNvPr>
          <p:cNvSpPr>
            <a:spLocks xmlns:a="http://schemas.openxmlformats.org/drawingml/2006/main" noGrp="1"/>
          </p:cNvSpPr>
          <p:nvPr/>
        </p:nvSpPr>
        <p:spPr>
          <a:xfrm xmlns:a="http://schemas.openxmlformats.org/drawingml/2006/main">
            <a:off x="4286250" y="3667125"/>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i="0">
                <a:solidFill>
                  <a:srgbClr val="82BEE8"/>
                </a:solidFill>
                <a:latin typeface="Helvetica Neue"/>
                <a:ea typeface="Helvetica Neue"/>
                <a:cs typeface="Helvetica Neue"/>
              </a:defRPr>
            </a:pPr>
            <a:r>
              <a:rPr sz="2400" b="1" i="0">
                <a:solidFill>
                  <a:srgbClr val="82BEE8"/>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1CB27A2C-3B98-486B-BE66-67885116CF21}"/>
              </a:ext>
            </a:extLst>
          </p:cNvPr>
          <p:cNvSpPr>
            <a:spLocks xmlns:a="http://schemas.openxmlformats.org/drawingml/2006/main" noGrp="1"/>
          </p:cNvSpPr>
          <p:nvPr/>
        </p:nvSpPr>
        <p:spPr>
          <a:xfrm xmlns:a="http://schemas.openxmlformats.org/drawingml/2006/main">
            <a:off x="4857750" y="3714750"/>
            <a:ext cx="2809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Fehlerzustände als</a:t>
            </a:r>
          </a:p>
          <a:p xmlns:a="http://schemas.openxmlformats.org/drawingml/2006/main">
            <a:pPr algn="l">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Kernfunktion</a:t>
            </a:r>
          </a:p>
        </p:txBody>
      </p:sp>
      <p:sp>
        <p:nvSpPr>
          <p:cNvPr id="9" name="">
            <a:extLst xmlns:a="http://schemas.openxmlformats.org/drawingml/2006/main">
              <a:ext uri="{FF2B5EF4-FFF2-40B4-BE49-F238E27FC236}">
                <a16:creationId xmlns:a16="http://schemas.microsoft.com/office/drawing/2014/main" id="{801AC7E4-3915-4787-89EF-D2AC3B4B1F23}"/>
              </a:ext>
            </a:extLst>
          </p:cNvPr>
          <p:cNvSpPr>
            <a:spLocks xmlns:a="http://schemas.openxmlformats.org/drawingml/2006/main" noGrp="1"/>
          </p:cNvSpPr>
          <p:nvPr/>
        </p:nvSpPr>
        <p:spPr>
          <a:xfrm xmlns:a="http://schemas.openxmlformats.org/drawingml/2006/main">
            <a:off x="8096250" y="3667125"/>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i="0">
                <a:solidFill>
                  <a:srgbClr val="FFD47B"/>
                </a:solidFill>
                <a:latin typeface="Helvetica Neue"/>
                <a:ea typeface="Helvetica Neue"/>
                <a:cs typeface="Helvetica Neue"/>
              </a:defRPr>
            </a:pPr>
            <a:r>
              <a:rPr sz="2400" b="1" i="0">
                <a:solidFill>
                  <a:srgbClr val="FFD47B"/>
                </a:solidFill>
                <a:latin typeface="Helvetica Neue"/>
                <a:ea typeface="Helvetica Neue"/>
                <a:cs typeface="Helvetica Neue"/>
              </a:rPr>
              <a:t>3</a:t>
            </a:r>
          </a:p>
        </p:txBody>
      </p:sp>
      <p:sp>
        <p:nvSpPr>
          <p:cNvPr id="10" name="">
            <a:extLst xmlns:a="http://schemas.openxmlformats.org/drawingml/2006/main">
              <a:ext uri="{FF2B5EF4-FFF2-40B4-BE49-F238E27FC236}">
                <a16:creationId xmlns:a16="http://schemas.microsoft.com/office/drawing/2014/main" id="{D0D08B74-ADC0-441A-B970-7D613C319930}"/>
              </a:ext>
            </a:extLst>
          </p:cNvPr>
          <p:cNvSpPr>
            <a:spLocks xmlns:a="http://schemas.openxmlformats.org/drawingml/2006/main" noGrp="1"/>
          </p:cNvSpPr>
          <p:nvPr/>
        </p:nvSpPr>
        <p:spPr>
          <a:xfrm xmlns:a="http://schemas.openxmlformats.org/drawingml/2006/main">
            <a:off x="8667750" y="37147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Barrierefreiheit von</a:t>
            </a:r>
          </a:p>
          <a:p xmlns:a="http://schemas.openxmlformats.org/drawingml/2006/main">
            <a:pPr algn="l">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Anfang an</a:t>
            </a:r>
          </a:p>
        </p:txBody>
      </p:sp>
      <p:sp>
        <p:nvSpPr>
          <p:cNvPr id="11" name="">
            <a:extLst xmlns:a="http://schemas.openxmlformats.org/drawingml/2006/main">
              <a:ext uri="{FF2B5EF4-FFF2-40B4-BE49-F238E27FC236}">
                <a16:creationId xmlns:a16="http://schemas.microsoft.com/office/drawing/2014/main" id="{F2830AF8-7D87-4452-84CE-8195D15654A7}"/>
              </a:ext>
            </a:extLst>
          </p:cNvPr>
          <p:cNvSpPr>
            <a:spLocks xmlns:a="http://schemas.openxmlformats.org/drawingml/2006/main" noGrp="1"/>
          </p:cNvSpPr>
          <p:nvPr/>
        </p:nvSpPr>
        <p:spPr>
          <a:xfrm xmlns:a="http://schemas.openxmlformats.org/drawingml/2006/main">
            <a:off x="628650" y="56197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i="0">
                <a:solidFill>
                  <a:srgbClr val="C8D6E2"/>
                </a:solidFill>
                <a:latin typeface="Helvetica Neue"/>
                <a:ea typeface="Helvetica Neue"/>
                <a:cs typeface="Helvetica Neue"/>
              </a:defRPr>
            </a:pPr>
            <a:r>
              <a:rPr sz="1875" b="0" i="0">
                <a:solidFill>
                  <a:srgbClr val="C8D6E2"/>
                </a:solidFill>
                <a:latin typeface="Helvetica Neue"/>
                <a:ea typeface="Helvetica Neue"/>
                <a:cs typeface="Helvetica Neue"/>
              </a:rPr>
              <a:t>Fragen zur Lösung, zum Code oder zur Live-Demo?</a:t>
            </a:r>
          </a:p>
        </p:txBody>
      </p:sp>
    </p:spTree>
    <p:extLst>
      <p:ext uri="{BB962C8B-B14F-4D97-AF65-F5344CB8AC3E}">
        <p14:creationId xmlns:p14="http://schemas.microsoft.com/office/powerpoint/2010/main" val="232748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2026-08-17T08:55:19.9220000Z</dcterms:created>
  <dcterms:modified xsi:type="dcterms:W3CDTF">2026-08-17T08:55:19.9220000Z</dcterms:modified>
</coreProperties>
</file>